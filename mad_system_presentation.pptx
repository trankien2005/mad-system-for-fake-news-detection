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9" d="100"/>
          <a:sy n="109" d="100"/>
        </p:scale>
        <p:origin x="100"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09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ngắn đề tài: hệ thống phát hiện tin giả dựa trên tranh biện đa tác tử, tập trung vào khả năng dùng bằng chứng và giải thích quyết định.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Nhấn mạnh đây không chỉ là bài toán phân loại văn bản. Với fake news detection, hệ thống phải chứng minh được vì sao kết luận là hợp lý.</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này dẫn vào lý do chọn MAD. Không phủ nhận năng lực LLM, mà chỉ ra rằng fact-checking cần thêm evidence và adversarial reasoning.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Trình bày mục tiêu theo hướng hệ thống: không chỉ tạo model, mà xây dựng pipeline có bằng chứng, trạng thái, tranh luận và đánh giá.</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Giải thích hình như một phiên tòa: hai bên tranh luận, nguồn đóng vai trò bằng chứng, Judge ra phán quyết cuối cùng.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slide trung tâm. Đi từ input, truy xuất bằng chứng, MADState, debate, Judge đến output. Nhấn mạnh state giúp dữ liệu không đi một chiều mà được tái sử dụng qua nhiều vòng.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này giúp hội đồng nắm được vai trò từng module trước khi đi vào state và workflow.</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Nhấn mạnh đây là điểm khác biệt quan trọng so với hỏi LLM trực tiếp: hệ thống có trạng thái, có ký ức tranh luận và có cấu trúc claim.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Giải thích Search Mode: prepare_round tạo kế hoạch, hai phía tìm kiếm, score_sources, defender, challenger, save_round, lặp đến max_rounds rồi judge.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này nối sang phần thực nghiệm. FEVER cung cấp claim và evidence nên không cần search web.</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Không cần đọc hết công nghệ. Tập trung vào LangGraph cho workflow, LLM qua NineRouter và Tavily/Wikipedia cho evidence.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Giải thích quy trình: chuẩn bị dữ liệu FEVER, lấy claim/evidence, chạy Base LLM và MAD non-search, chuyển truth_score về binary rồi tính metric.</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Nhấn mạnh kết quả chính: MAD không chỉ tăng accuracy mà còn tạo lời giải thích và lịch sử tranh luận để truy vết.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này chuẩn bị cho câu hỏi phản biện. Nên chủ động nói trade-off: tăng khả năng kiểm chứng nhưng tốn tài nguyên hơn.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Kết luận ngắn, sau đó chuyển sang hỏi đáp. Nếu có thời gian, nhắc lại slide tổng quan kiến trúc khi trả lời câu hỏi.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7FC"/>
        </a:solidFill>
        <a:effectLst/>
      </p:bgPr>
    </p:bg>
    <p:spTree>
      <p:nvGrpSpPr>
        <p:cNvPr id="1" name=""/>
        <p:cNvGrpSpPr/>
        <p:nvPr/>
      </p:nvGrpSpPr>
      <p:grpSpPr>
        <a:xfrm>
          <a:off x="0" y="0"/>
          <a:ext cx="0" cy="0"/>
          <a:chOff x="0" y="0"/>
          <a:chExt cx="0" cy="0"/>
        </a:xfrm>
      </p:grpSpPr>
      <p:sp>
        <p:nvSpPr>
          <p:cNvPr id="2" name="TextBox 1"/>
          <p:cNvSpPr txBox="1"/>
          <p:nvPr/>
        </p:nvSpPr>
        <p:spPr>
          <a:xfrm>
            <a:off x="777240" y="1005840"/>
            <a:ext cx="10698480" cy="1280160"/>
          </a:xfrm>
          <a:prstGeom prst="rect">
            <a:avLst/>
          </a:prstGeom>
          <a:noFill/>
        </p:spPr>
        <p:txBody>
          <a:bodyPr wrap="none">
            <a:spAutoFit/>
          </a:bodyPr>
          <a:lstStyle/>
          <a:p>
            <a:pPr algn="ctr"/>
            <a:r>
              <a:rPr sz="3200" b="1">
                <a:solidFill>
                  <a:srgbClr val="142D50"/>
                </a:solidFill>
                <a:latin typeface="Arial"/>
              </a:rPr>
              <a:t>Nghiên cứu phát triển hệ thống phát hiện tin giả
dựa trên phương pháp tranh biện đa tác tử</a:t>
            </a:r>
          </a:p>
        </p:txBody>
      </p:sp>
      <p:sp>
        <p:nvSpPr>
          <p:cNvPr id="3" name="TextBox 2"/>
          <p:cNvSpPr txBox="1"/>
          <p:nvPr/>
        </p:nvSpPr>
        <p:spPr>
          <a:xfrm>
            <a:off x="1280160" y="2560320"/>
            <a:ext cx="9601200" cy="548640"/>
          </a:xfrm>
          <a:prstGeom prst="rect">
            <a:avLst/>
          </a:prstGeom>
          <a:noFill/>
        </p:spPr>
        <p:txBody>
          <a:bodyPr wrap="none">
            <a:spAutoFit/>
          </a:bodyPr>
          <a:lstStyle/>
          <a:p>
            <a:pPr algn="ctr"/>
            <a:r>
              <a:rPr sz="2200">
                <a:solidFill>
                  <a:srgbClr val="235C96"/>
                </a:solidFill>
                <a:latin typeface="Arial"/>
              </a:rPr>
              <a:t>MAD System for Fake News Detection</a:t>
            </a:r>
          </a:p>
        </p:txBody>
      </p:sp>
      <p:sp>
        <p:nvSpPr>
          <p:cNvPr id="4" name="TextBox 3"/>
          <p:cNvSpPr txBox="1"/>
          <p:nvPr/>
        </p:nvSpPr>
        <p:spPr>
          <a:xfrm>
            <a:off x="2011680" y="3840480"/>
            <a:ext cx="8138160" cy="1005840"/>
          </a:xfrm>
          <a:prstGeom prst="rect">
            <a:avLst/>
          </a:prstGeom>
          <a:noFill/>
        </p:spPr>
        <p:txBody>
          <a:bodyPr wrap="none">
            <a:spAutoFit/>
          </a:bodyPr>
          <a:lstStyle/>
          <a:p>
            <a:pPr algn="ctr"/>
            <a:r>
              <a:rPr sz="1500">
                <a:solidFill>
                  <a:srgbClr val="191919"/>
                </a:solidFill>
                <a:latin typeface="Arial"/>
              </a:rPr>
              <a:t>Sinh viên: Phí Đình Mạnh, Hoàng Ngọc Hưng, Trần Trung Kiên</a:t>
            </a:r>
          </a:p>
          <a:p>
            <a:pPr algn="ctr"/>
            <a:r>
              <a:rPr sz="1500">
                <a:solidFill>
                  <a:srgbClr val="191919"/>
                </a:solidFill>
                <a:latin typeface="Arial"/>
              </a:rPr>
              <a:t>Giảng viên hướng dẫn: TS. Vương Thị Hồng</a:t>
            </a:r>
          </a:p>
          <a:p>
            <a:pPr algn="ctr"/>
            <a:r>
              <a:rPr sz="1500">
                <a:solidFill>
                  <a:srgbClr val="191919"/>
                </a:solidFill>
                <a:latin typeface="Arial"/>
              </a:rPr>
              <a:t>Trường Đại học Công nghệ - Đại học Quốc gia Hà Nội</a:t>
            </a:r>
          </a:p>
        </p:txBody>
      </p:sp>
      <p:sp>
        <p:nvSpPr>
          <p:cNvPr id="5" name="TextBox 4"/>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1/15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Bối cảnh và vấn đề</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2/15</a:t>
            </a:r>
          </a:p>
        </p:txBody>
      </p:sp>
      <p:sp>
        <p:nvSpPr>
          <p:cNvPr id="5" name="TextBox 4"/>
          <p:cNvSpPr txBox="1"/>
          <p:nvPr/>
        </p:nvSpPr>
        <p:spPr>
          <a:xfrm>
            <a:off x="777240" y="1417320"/>
            <a:ext cx="5486400" cy="4480560"/>
          </a:xfrm>
          <a:prstGeom prst="rect">
            <a:avLst/>
          </a:prstGeom>
          <a:noFill/>
        </p:spPr>
        <p:txBody>
          <a:bodyPr wrap="square" lIns="45720" rIns="45720">
            <a:spAutoFit/>
          </a:bodyPr>
          <a:lstStyle/>
          <a:p>
            <a:pPr>
              <a:spcAft>
                <a:spcPts val="800"/>
              </a:spcAft>
              <a:defRPr sz="1900">
                <a:solidFill>
                  <a:srgbClr val="191919"/>
                </a:solidFill>
                <a:latin typeface="Arial"/>
              </a:defRPr>
            </a:pPr>
            <a:r>
              <a:t>Tin giả lan truyền nhanh trong xã hội số và gây ảnh hưởng tới y tế, chính trị, tài chính và niềm tin cộng đồng.</a:t>
            </a:r>
          </a:p>
          <a:p>
            <a:pPr>
              <a:spcAft>
                <a:spcPts val="800"/>
              </a:spcAft>
              <a:defRPr sz="1900">
                <a:solidFill>
                  <a:srgbClr val="191919"/>
                </a:solidFill>
                <a:latin typeface="Arial"/>
              </a:defRPr>
            </a:pPr>
            <a:r>
              <a:t>Người dùng khó tự kiểm chứng vì thông tin thường thiếu nguồn, bị cắt ngữ cảnh hoặc đánh tráo khái niệm.</a:t>
            </a:r>
          </a:p>
          <a:p>
            <a:pPr>
              <a:spcAft>
                <a:spcPts val="800"/>
              </a:spcAft>
              <a:defRPr sz="1900">
                <a:solidFill>
                  <a:srgbClr val="191919"/>
                </a:solidFill>
                <a:latin typeface="Arial"/>
              </a:defRPr>
            </a:pPr>
            <a:r>
              <a:t>Fact-checking hiện đại cần bằng chứng, nguồn gốc thông tin và lời giải thích có thể truy vết.</a:t>
            </a:r>
          </a:p>
          <a:p>
            <a:pPr>
              <a:spcAft>
                <a:spcPts val="800"/>
              </a:spcAft>
              <a:defRPr sz="1900">
                <a:solidFill>
                  <a:srgbClr val="191919"/>
                </a:solidFill>
                <a:latin typeface="Arial"/>
              </a:defRPr>
            </a:pPr>
            <a:r>
              <a:t>LLM có tiềm năng hỗ trợ phân tích, nhưng cần cơ chế kiểm soát để tránh kết luận thiếu căn cứ.</a:t>
            </a:r>
          </a:p>
        </p:txBody>
      </p:sp>
      <p:sp>
        <p:nvSpPr>
          <p:cNvPr id="6" name="Rounded Rectangle 5"/>
          <p:cNvSpPr/>
          <p:nvPr/>
        </p:nvSpPr>
        <p:spPr>
          <a:xfrm>
            <a:off x="6720840" y="1572768"/>
            <a:ext cx="4480560" cy="105156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720840" y="1572768"/>
            <a:ext cx="73152" cy="1051560"/>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85431" y="1682495"/>
            <a:ext cx="4206240" cy="320040"/>
          </a:xfrm>
          <a:prstGeom prst="rect">
            <a:avLst/>
          </a:prstGeom>
          <a:noFill/>
        </p:spPr>
        <p:txBody>
          <a:bodyPr wrap="none">
            <a:spAutoFit/>
          </a:bodyPr>
          <a:lstStyle/>
          <a:p>
            <a:r>
              <a:rPr sz="1500" b="1">
                <a:solidFill>
                  <a:srgbClr val="142D50"/>
                </a:solidFill>
                <a:latin typeface="Arial"/>
              </a:rPr>
              <a:t>Bài toán</a:t>
            </a:r>
          </a:p>
        </p:txBody>
      </p:sp>
      <p:sp>
        <p:nvSpPr>
          <p:cNvPr id="9" name="TextBox 8"/>
          <p:cNvSpPr txBox="1"/>
          <p:nvPr/>
        </p:nvSpPr>
        <p:spPr>
          <a:xfrm>
            <a:off x="6885431" y="2048256"/>
            <a:ext cx="4160520" cy="484631"/>
          </a:xfrm>
          <a:prstGeom prst="rect">
            <a:avLst/>
          </a:prstGeom>
          <a:noFill/>
        </p:spPr>
        <p:txBody>
          <a:bodyPr wrap="square">
            <a:spAutoFit/>
          </a:bodyPr>
          <a:lstStyle/>
          <a:p>
            <a:r>
              <a:rPr sz="1250">
                <a:solidFill>
                  <a:srgbClr val="191919"/>
                </a:solidFill>
                <a:latin typeface="Arial"/>
              </a:rPr>
              <a:t>Đánh giá một bản tin hoặc claim văn bản là đáng tin hay sai lệch dựa trên bằng chứng.</a:t>
            </a:r>
          </a:p>
        </p:txBody>
      </p:sp>
      <p:sp>
        <p:nvSpPr>
          <p:cNvPr id="10" name="Rounded Rectangle 9"/>
          <p:cNvSpPr/>
          <p:nvPr/>
        </p:nvSpPr>
        <p:spPr>
          <a:xfrm>
            <a:off x="6720840" y="2880360"/>
            <a:ext cx="4480560" cy="105156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720840" y="2880360"/>
            <a:ext cx="73152" cy="1051560"/>
          </a:xfrm>
          <a:prstGeom prst="rect">
            <a:avLst/>
          </a:prstGeom>
          <a:solidFill>
            <a:srgbClr val="23785F"/>
          </a:solidFill>
          <a:ln>
            <a:solidFill>
              <a:srgbClr val="237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85431" y="2990088"/>
            <a:ext cx="4206240" cy="320040"/>
          </a:xfrm>
          <a:prstGeom prst="rect">
            <a:avLst/>
          </a:prstGeom>
          <a:noFill/>
        </p:spPr>
        <p:txBody>
          <a:bodyPr wrap="none">
            <a:spAutoFit/>
          </a:bodyPr>
          <a:lstStyle/>
          <a:p>
            <a:r>
              <a:rPr sz="1500" b="1">
                <a:solidFill>
                  <a:srgbClr val="142D50"/>
                </a:solidFill>
                <a:latin typeface="Arial"/>
              </a:rPr>
              <a:t>Yêu cầu</a:t>
            </a:r>
          </a:p>
        </p:txBody>
      </p:sp>
      <p:sp>
        <p:nvSpPr>
          <p:cNvPr id="13" name="TextBox 12"/>
          <p:cNvSpPr txBox="1"/>
          <p:nvPr/>
        </p:nvSpPr>
        <p:spPr>
          <a:xfrm>
            <a:off x="6885431" y="3355848"/>
            <a:ext cx="4160520" cy="484631"/>
          </a:xfrm>
          <a:prstGeom prst="rect">
            <a:avLst/>
          </a:prstGeom>
          <a:noFill/>
        </p:spPr>
        <p:txBody>
          <a:bodyPr wrap="square">
            <a:spAutoFit/>
          </a:bodyPr>
          <a:lstStyle/>
          <a:p>
            <a:r>
              <a:rPr sz="1250">
                <a:solidFill>
                  <a:srgbClr val="191919"/>
                </a:solidFill>
                <a:latin typeface="Arial"/>
              </a:rPr>
              <a:t>Không chỉ trả lời đúng/sai, mà phải chỉ ra lý do, nguồn bằng chứng và điểm quyết định.</a:t>
            </a:r>
          </a:p>
        </p:txBody>
      </p:sp>
      <p:sp>
        <p:nvSpPr>
          <p:cNvPr id="14" name="Rounded Rectangle 13"/>
          <p:cNvSpPr/>
          <p:nvPr/>
        </p:nvSpPr>
        <p:spPr>
          <a:xfrm>
            <a:off x="6720840" y="4187952"/>
            <a:ext cx="4480560" cy="105156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720840" y="4187952"/>
            <a:ext cx="73152" cy="1051560"/>
          </a:xfrm>
          <a:prstGeom prst="rect">
            <a:avLst/>
          </a:prstGeom>
          <a:solidFill>
            <a:srgbClr val="DC8232"/>
          </a:solidFill>
          <a:ln>
            <a:solidFill>
              <a:srgbClr val="DC8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85431" y="4297680"/>
            <a:ext cx="4206240" cy="320040"/>
          </a:xfrm>
          <a:prstGeom prst="rect">
            <a:avLst/>
          </a:prstGeom>
          <a:noFill/>
        </p:spPr>
        <p:txBody>
          <a:bodyPr wrap="none">
            <a:spAutoFit/>
          </a:bodyPr>
          <a:lstStyle/>
          <a:p>
            <a:r>
              <a:rPr sz="1500" b="1">
                <a:solidFill>
                  <a:srgbClr val="142D50"/>
                </a:solidFill>
                <a:latin typeface="Arial"/>
              </a:rPr>
              <a:t>Định hướng</a:t>
            </a:r>
          </a:p>
        </p:txBody>
      </p:sp>
      <p:sp>
        <p:nvSpPr>
          <p:cNvPr id="17" name="TextBox 16"/>
          <p:cNvSpPr txBox="1"/>
          <p:nvPr/>
        </p:nvSpPr>
        <p:spPr>
          <a:xfrm>
            <a:off x="6885431" y="4663440"/>
            <a:ext cx="4160520" cy="484631"/>
          </a:xfrm>
          <a:prstGeom prst="rect">
            <a:avLst/>
          </a:prstGeom>
          <a:noFill/>
        </p:spPr>
        <p:txBody>
          <a:bodyPr wrap="square">
            <a:spAutoFit/>
          </a:bodyPr>
          <a:lstStyle/>
          <a:p>
            <a:r>
              <a:rPr sz="1250">
                <a:solidFill>
                  <a:srgbClr val="191919"/>
                </a:solidFill>
                <a:latin typeface="Arial"/>
              </a:rPr>
              <a:t>Kết hợp truy xuất bằng chứng với tranh biện đa tác tử để tăng kiểm tra chéo.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Vì sao LLM đơn lẻ chưa đủ?</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3/15</a:t>
            </a:r>
          </a:p>
        </p:txBody>
      </p:sp>
      <p:sp>
        <p:nvSpPr>
          <p:cNvPr id="5" name="Rounded Rectangle 4"/>
          <p:cNvSpPr/>
          <p:nvPr/>
        </p:nvSpPr>
        <p:spPr>
          <a:xfrm>
            <a:off x="731520" y="1417320"/>
            <a:ext cx="3474720" cy="123444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417320"/>
            <a:ext cx="73152" cy="1234440"/>
          </a:xfrm>
          <a:prstGeom prst="rect">
            <a:avLst/>
          </a:prstGeom>
          <a:solidFill>
            <a:srgbClr val="DC8232"/>
          </a:solidFill>
          <a:ln>
            <a:solidFill>
              <a:srgbClr val="DC8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527048"/>
            <a:ext cx="3200400" cy="320040"/>
          </a:xfrm>
          <a:prstGeom prst="rect">
            <a:avLst/>
          </a:prstGeom>
          <a:noFill/>
        </p:spPr>
        <p:txBody>
          <a:bodyPr wrap="none">
            <a:spAutoFit/>
          </a:bodyPr>
          <a:lstStyle/>
          <a:p>
            <a:r>
              <a:rPr sz="1500" b="1">
                <a:solidFill>
                  <a:srgbClr val="142D50"/>
                </a:solidFill>
                <a:latin typeface="Arial"/>
              </a:rPr>
              <a:t>Ảo giác thông tin</a:t>
            </a:r>
          </a:p>
        </p:txBody>
      </p:sp>
      <p:sp>
        <p:nvSpPr>
          <p:cNvPr id="8" name="TextBox 7"/>
          <p:cNvSpPr txBox="1"/>
          <p:nvPr/>
        </p:nvSpPr>
        <p:spPr>
          <a:xfrm>
            <a:off x="896112" y="1892808"/>
            <a:ext cx="3154679" cy="667512"/>
          </a:xfrm>
          <a:prstGeom prst="rect">
            <a:avLst/>
          </a:prstGeom>
          <a:noFill/>
        </p:spPr>
        <p:txBody>
          <a:bodyPr wrap="square">
            <a:spAutoFit/>
          </a:bodyPr>
          <a:lstStyle/>
          <a:p>
            <a:r>
              <a:rPr sz="1250">
                <a:solidFill>
                  <a:srgbClr val="191919"/>
                </a:solidFill>
                <a:latin typeface="Arial"/>
              </a:rPr>
              <a:t>LLM có thể tự tin khẳng định chi tiết không tồn tại trong nguồn bằng chứng.</a:t>
            </a:r>
          </a:p>
        </p:txBody>
      </p:sp>
      <p:sp>
        <p:nvSpPr>
          <p:cNvPr id="9" name="Rounded Rectangle 8"/>
          <p:cNvSpPr/>
          <p:nvPr/>
        </p:nvSpPr>
        <p:spPr>
          <a:xfrm>
            <a:off x="4434840" y="1417320"/>
            <a:ext cx="3474720" cy="123444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1417320"/>
            <a:ext cx="73152" cy="1234440"/>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9431" y="1527048"/>
            <a:ext cx="3200400" cy="320040"/>
          </a:xfrm>
          <a:prstGeom prst="rect">
            <a:avLst/>
          </a:prstGeom>
          <a:noFill/>
        </p:spPr>
        <p:txBody>
          <a:bodyPr wrap="none">
            <a:spAutoFit/>
          </a:bodyPr>
          <a:lstStyle/>
          <a:p>
            <a:r>
              <a:rPr sz="1500" b="1">
                <a:solidFill>
                  <a:srgbClr val="142D50"/>
                </a:solidFill>
                <a:latin typeface="Arial"/>
              </a:rPr>
              <a:t>Kiến thức tĩnh</a:t>
            </a:r>
          </a:p>
        </p:txBody>
      </p:sp>
      <p:sp>
        <p:nvSpPr>
          <p:cNvPr id="12" name="TextBox 11"/>
          <p:cNvSpPr txBox="1"/>
          <p:nvPr/>
        </p:nvSpPr>
        <p:spPr>
          <a:xfrm>
            <a:off x="4599431" y="1892808"/>
            <a:ext cx="3154679" cy="667512"/>
          </a:xfrm>
          <a:prstGeom prst="rect">
            <a:avLst/>
          </a:prstGeom>
          <a:noFill/>
        </p:spPr>
        <p:txBody>
          <a:bodyPr wrap="square">
            <a:spAutoFit/>
          </a:bodyPr>
          <a:lstStyle/>
          <a:p>
            <a:r>
              <a:rPr sz="1250">
                <a:solidFill>
                  <a:srgbClr val="191919"/>
                </a:solidFill>
                <a:latin typeface="Arial"/>
              </a:rPr>
              <a:t>Model không tự cập nhật sự kiện mới nếu không có cơ chế truy xuất bên ngoài.</a:t>
            </a:r>
          </a:p>
        </p:txBody>
      </p:sp>
      <p:sp>
        <p:nvSpPr>
          <p:cNvPr id="13" name="Rounded Rectangle 12"/>
          <p:cNvSpPr/>
          <p:nvPr/>
        </p:nvSpPr>
        <p:spPr>
          <a:xfrm>
            <a:off x="8138160" y="1417320"/>
            <a:ext cx="3474720" cy="123444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417320"/>
            <a:ext cx="73152" cy="1234440"/>
          </a:xfrm>
          <a:prstGeom prst="rect">
            <a:avLst/>
          </a:prstGeom>
          <a:solidFill>
            <a:srgbClr val="23785F"/>
          </a:solidFill>
          <a:ln>
            <a:solidFill>
              <a:srgbClr val="237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1527048"/>
            <a:ext cx="3200400" cy="320040"/>
          </a:xfrm>
          <a:prstGeom prst="rect">
            <a:avLst/>
          </a:prstGeom>
          <a:noFill/>
        </p:spPr>
        <p:txBody>
          <a:bodyPr wrap="none">
            <a:spAutoFit/>
          </a:bodyPr>
          <a:lstStyle/>
          <a:p>
            <a:r>
              <a:rPr sz="1500" b="1">
                <a:solidFill>
                  <a:srgbClr val="142D50"/>
                </a:solidFill>
                <a:latin typeface="Arial"/>
              </a:rPr>
              <a:t>Thiếu phản biện</a:t>
            </a:r>
          </a:p>
        </p:txBody>
      </p:sp>
      <p:sp>
        <p:nvSpPr>
          <p:cNvPr id="16" name="TextBox 15"/>
          <p:cNvSpPr txBox="1"/>
          <p:nvPr/>
        </p:nvSpPr>
        <p:spPr>
          <a:xfrm>
            <a:off x="8302752" y="1892808"/>
            <a:ext cx="3154679" cy="667512"/>
          </a:xfrm>
          <a:prstGeom prst="rect">
            <a:avLst/>
          </a:prstGeom>
          <a:noFill/>
        </p:spPr>
        <p:txBody>
          <a:bodyPr wrap="square">
            <a:spAutoFit/>
          </a:bodyPr>
          <a:lstStyle/>
          <a:p>
            <a:r>
              <a:rPr sz="1250">
                <a:solidFill>
                  <a:srgbClr val="191919"/>
                </a:solidFill>
                <a:latin typeface="Arial"/>
              </a:rPr>
              <a:t>Một câu trả lời trực tiếp thường không tự soi lỗi thực thể, thời gian hoặc logic.</a:t>
            </a:r>
          </a:p>
        </p:txBody>
      </p:sp>
      <p:sp>
        <p:nvSpPr>
          <p:cNvPr id="17" name="TextBox 16"/>
          <p:cNvSpPr txBox="1"/>
          <p:nvPr/>
        </p:nvSpPr>
        <p:spPr>
          <a:xfrm>
            <a:off x="1051560" y="3246120"/>
            <a:ext cx="9875520" cy="2011680"/>
          </a:xfrm>
          <a:prstGeom prst="rect">
            <a:avLst/>
          </a:prstGeom>
          <a:noFill/>
        </p:spPr>
        <p:txBody>
          <a:bodyPr wrap="square" lIns="45720" rIns="45720">
            <a:spAutoFit/>
          </a:bodyPr>
          <a:lstStyle/>
          <a:p>
            <a:pPr>
              <a:spcAft>
                <a:spcPts val="800"/>
              </a:spcAft>
              <a:defRPr sz="2100">
                <a:solidFill>
                  <a:srgbClr val="191919"/>
                </a:solidFill>
                <a:latin typeface="Arial"/>
              </a:defRPr>
            </a:pPr>
            <a:r>
              <a:t>Câu trả lời một chiều khó tạo audit trail cho người đọc hoặc hội đồng kiểm chứng.</a:t>
            </a:r>
          </a:p>
          <a:p>
            <a:pPr>
              <a:spcAft>
                <a:spcPts val="800"/>
              </a:spcAft>
              <a:defRPr sz="2100">
                <a:solidFill>
                  <a:srgbClr val="191919"/>
                </a:solidFill>
                <a:latin typeface="Arial"/>
              </a:defRPr>
            </a:pPr>
            <a:r>
              <a:t>Kết quả dễ phụ thuộc vào prompt và cách diễn đạt claim đầu vào.</a:t>
            </a:r>
          </a:p>
          <a:p>
            <a:pPr>
              <a:spcAft>
                <a:spcPts val="800"/>
              </a:spcAft>
              <a:defRPr sz="2100">
                <a:solidFill>
                  <a:srgbClr val="191919"/>
                </a:solidFill>
                <a:latin typeface="Arial"/>
              </a:defRPr>
            </a:pPr>
            <a:r>
              <a:t>Cần một cơ chế buộc lập luận phải đi qua đối soát bằng chứng và phản biện.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Mục tiêu và đóng góp của đồ án</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4/15</a:t>
            </a:r>
          </a:p>
        </p:txBody>
      </p:sp>
      <p:sp>
        <p:nvSpPr>
          <p:cNvPr id="5" name="TextBox 4"/>
          <p:cNvSpPr txBox="1"/>
          <p:nvPr/>
        </p:nvSpPr>
        <p:spPr>
          <a:xfrm>
            <a:off x="777240" y="1325880"/>
            <a:ext cx="10698480" cy="4389120"/>
          </a:xfrm>
          <a:prstGeom prst="rect">
            <a:avLst/>
          </a:prstGeom>
          <a:noFill/>
        </p:spPr>
        <p:txBody>
          <a:bodyPr wrap="square" lIns="45720" rIns="45720">
            <a:spAutoFit/>
          </a:bodyPr>
          <a:lstStyle/>
          <a:p>
            <a:pPr>
              <a:spcAft>
                <a:spcPts val="800"/>
              </a:spcAft>
              <a:defRPr sz="2000">
                <a:solidFill>
                  <a:srgbClr val="191919"/>
                </a:solidFill>
                <a:latin typeface="Arial"/>
              </a:defRPr>
            </a:pPr>
            <a:r>
              <a:rPr dirty="0" err="1"/>
              <a:t>Xây</a:t>
            </a:r>
            <a:r>
              <a:rPr dirty="0"/>
              <a:t> </a:t>
            </a:r>
            <a:r>
              <a:rPr dirty="0" err="1"/>
              <a:t>dựng</a:t>
            </a:r>
            <a:r>
              <a:rPr dirty="0"/>
              <a:t> </a:t>
            </a:r>
            <a:r>
              <a:rPr dirty="0" err="1"/>
              <a:t>hệ</a:t>
            </a:r>
            <a:r>
              <a:rPr dirty="0"/>
              <a:t> </a:t>
            </a:r>
            <a:r>
              <a:rPr dirty="0" err="1"/>
              <a:t>thống</a:t>
            </a:r>
            <a:r>
              <a:rPr dirty="0"/>
              <a:t> </a:t>
            </a:r>
            <a:r>
              <a:rPr dirty="0" err="1"/>
              <a:t>kiểm</a:t>
            </a:r>
            <a:r>
              <a:rPr dirty="0"/>
              <a:t> </a:t>
            </a:r>
            <a:r>
              <a:rPr dirty="0" err="1"/>
              <a:t>chứng</a:t>
            </a:r>
            <a:r>
              <a:rPr dirty="0"/>
              <a:t> tin </a:t>
            </a:r>
            <a:r>
              <a:rPr dirty="0" err="1"/>
              <a:t>giả</a:t>
            </a:r>
            <a:r>
              <a:rPr dirty="0"/>
              <a:t> </a:t>
            </a:r>
            <a:r>
              <a:rPr dirty="0" err="1"/>
              <a:t>cho</a:t>
            </a:r>
            <a:r>
              <a:rPr dirty="0"/>
              <a:t> </a:t>
            </a:r>
            <a:r>
              <a:rPr dirty="0" err="1"/>
              <a:t>dữ</a:t>
            </a:r>
            <a:r>
              <a:rPr dirty="0"/>
              <a:t> </a:t>
            </a:r>
            <a:r>
              <a:rPr dirty="0" err="1"/>
              <a:t>liệu</a:t>
            </a:r>
            <a:r>
              <a:rPr dirty="0"/>
              <a:t> </a:t>
            </a:r>
            <a:r>
              <a:rPr dirty="0" err="1"/>
              <a:t>văn</a:t>
            </a:r>
            <a:r>
              <a:rPr dirty="0"/>
              <a:t> </a:t>
            </a:r>
            <a:r>
              <a:rPr dirty="0" err="1"/>
              <a:t>bản</a:t>
            </a:r>
            <a:r>
              <a:rPr dirty="0"/>
              <a:t> </a:t>
            </a:r>
            <a:r>
              <a:rPr dirty="0" err="1"/>
              <a:t>bằng</a:t>
            </a:r>
            <a:r>
              <a:rPr dirty="0"/>
              <a:t> Multi-Agent Debate.</a:t>
            </a:r>
          </a:p>
          <a:p>
            <a:pPr>
              <a:spcAft>
                <a:spcPts val="800"/>
              </a:spcAft>
              <a:defRPr sz="2000">
                <a:solidFill>
                  <a:srgbClr val="191919"/>
                </a:solidFill>
                <a:latin typeface="Arial"/>
              </a:defRPr>
            </a:pPr>
            <a:r>
              <a:rPr dirty="0" err="1"/>
              <a:t>Thiết</a:t>
            </a:r>
            <a:r>
              <a:rPr dirty="0"/>
              <a:t> </a:t>
            </a:r>
            <a:r>
              <a:rPr dirty="0" err="1"/>
              <a:t>kế</a:t>
            </a:r>
            <a:r>
              <a:rPr dirty="0"/>
              <a:t> workflow </a:t>
            </a:r>
            <a:r>
              <a:rPr dirty="0" err="1"/>
              <a:t>có</a:t>
            </a:r>
            <a:r>
              <a:rPr dirty="0"/>
              <a:t> state </a:t>
            </a:r>
            <a:r>
              <a:rPr dirty="0" err="1"/>
              <a:t>chung</a:t>
            </a:r>
            <a:r>
              <a:rPr dirty="0"/>
              <a:t> </a:t>
            </a:r>
            <a:r>
              <a:rPr dirty="0" err="1"/>
              <a:t>để</a:t>
            </a:r>
            <a:r>
              <a:rPr dirty="0"/>
              <a:t> </a:t>
            </a:r>
            <a:r>
              <a:rPr dirty="0" err="1"/>
              <a:t>lưu</a:t>
            </a:r>
            <a:r>
              <a:rPr dirty="0"/>
              <a:t> </a:t>
            </a:r>
            <a:r>
              <a:rPr dirty="0" err="1"/>
              <a:t>knowledge_base</a:t>
            </a:r>
            <a:r>
              <a:rPr dirty="0"/>
              <a:t>, </a:t>
            </a:r>
            <a:r>
              <a:rPr dirty="0" err="1"/>
              <a:t>source_scores</a:t>
            </a:r>
            <a:r>
              <a:rPr dirty="0"/>
              <a:t>, </a:t>
            </a:r>
            <a:r>
              <a:rPr dirty="0" err="1"/>
              <a:t>debate_history</a:t>
            </a:r>
            <a:r>
              <a:rPr dirty="0"/>
              <a:t>, </a:t>
            </a:r>
            <a:r>
              <a:rPr dirty="0" err="1"/>
              <a:t>claims_registry</a:t>
            </a:r>
            <a:r>
              <a:rPr dirty="0"/>
              <a:t> </a:t>
            </a:r>
            <a:r>
              <a:rPr dirty="0" err="1"/>
              <a:t>và</a:t>
            </a:r>
            <a:r>
              <a:rPr dirty="0"/>
              <a:t> verdict.</a:t>
            </a:r>
          </a:p>
          <a:p>
            <a:pPr>
              <a:spcAft>
                <a:spcPts val="800"/>
              </a:spcAft>
              <a:defRPr sz="2000">
                <a:solidFill>
                  <a:srgbClr val="191919"/>
                </a:solidFill>
                <a:latin typeface="Arial"/>
              </a:defRPr>
            </a:pPr>
            <a:r>
              <a:rPr dirty="0" err="1"/>
              <a:t>Hỗ</a:t>
            </a:r>
            <a:r>
              <a:rPr dirty="0"/>
              <a:t> </a:t>
            </a:r>
            <a:r>
              <a:rPr dirty="0" err="1"/>
              <a:t>trợ</a:t>
            </a:r>
            <a:r>
              <a:rPr dirty="0"/>
              <a:t> </a:t>
            </a:r>
            <a:r>
              <a:rPr dirty="0" err="1"/>
              <a:t>hai</a:t>
            </a:r>
            <a:r>
              <a:rPr dirty="0"/>
              <a:t> </a:t>
            </a:r>
            <a:r>
              <a:rPr dirty="0" err="1"/>
              <a:t>chế</a:t>
            </a:r>
            <a:r>
              <a:rPr dirty="0"/>
              <a:t> </a:t>
            </a:r>
            <a:r>
              <a:rPr dirty="0" err="1"/>
              <a:t>độ</a:t>
            </a:r>
            <a:r>
              <a:t>: Search Mode </a:t>
            </a:r>
            <a:r>
              <a:rPr dirty="0" err="1"/>
              <a:t>cho</a:t>
            </a:r>
            <a:r>
              <a:rPr dirty="0"/>
              <a:t> </a:t>
            </a:r>
            <a:r>
              <a:rPr dirty="0" err="1"/>
              <a:t>bối</a:t>
            </a:r>
            <a:r>
              <a:rPr dirty="0"/>
              <a:t> </a:t>
            </a:r>
            <a:r>
              <a:rPr dirty="0" err="1"/>
              <a:t>cảnh</a:t>
            </a:r>
            <a:r>
              <a:rPr dirty="0"/>
              <a:t> </a:t>
            </a:r>
            <a:r>
              <a:rPr dirty="0" err="1"/>
              <a:t>mở</a:t>
            </a:r>
            <a:r>
              <a:rPr dirty="0"/>
              <a:t> </a:t>
            </a:r>
            <a:r>
              <a:rPr dirty="0" err="1"/>
              <a:t>và</a:t>
            </a:r>
            <a:r>
              <a:rPr dirty="0"/>
              <a:t> Non-search Mode </a:t>
            </a:r>
            <a:r>
              <a:rPr dirty="0" err="1"/>
              <a:t>cho</a:t>
            </a:r>
            <a:r>
              <a:rPr dirty="0"/>
              <a:t> benchmark </a:t>
            </a:r>
            <a:r>
              <a:rPr dirty="0" err="1"/>
              <a:t>có</a:t>
            </a:r>
            <a:r>
              <a:rPr dirty="0"/>
              <a:t> evidence </a:t>
            </a:r>
            <a:r>
              <a:rPr dirty="0" err="1"/>
              <a:t>sẵn</a:t>
            </a:r>
            <a:r>
              <a:rPr dirty="0"/>
              <a:t>.</a:t>
            </a:r>
          </a:p>
          <a:p>
            <a:pPr>
              <a:spcAft>
                <a:spcPts val="800"/>
              </a:spcAft>
              <a:defRPr sz="2000">
                <a:solidFill>
                  <a:srgbClr val="191919"/>
                </a:solidFill>
                <a:latin typeface="Arial"/>
              </a:defRPr>
            </a:pPr>
            <a:r>
              <a:rPr dirty="0" err="1"/>
              <a:t>Tạo</a:t>
            </a:r>
            <a:r>
              <a:rPr dirty="0"/>
              <a:t> </a:t>
            </a:r>
            <a:r>
              <a:rPr dirty="0" err="1"/>
              <a:t>cơ</a:t>
            </a:r>
            <a:r>
              <a:rPr dirty="0"/>
              <a:t> </a:t>
            </a:r>
            <a:r>
              <a:rPr dirty="0" err="1"/>
              <a:t>chế</a:t>
            </a:r>
            <a:r>
              <a:rPr dirty="0"/>
              <a:t> </a:t>
            </a:r>
            <a:r>
              <a:rPr dirty="0" err="1"/>
              <a:t>lập</a:t>
            </a:r>
            <a:r>
              <a:rPr dirty="0"/>
              <a:t> </a:t>
            </a:r>
            <a:r>
              <a:rPr dirty="0" err="1"/>
              <a:t>luận</a:t>
            </a:r>
            <a:r>
              <a:rPr dirty="0"/>
              <a:t> </a:t>
            </a:r>
            <a:r>
              <a:rPr dirty="0" err="1"/>
              <a:t>có</a:t>
            </a:r>
            <a:r>
              <a:rPr dirty="0"/>
              <a:t> </a:t>
            </a:r>
            <a:r>
              <a:rPr dirty="0" err="1"/>
              <a:t>truy</a:t>
            </a:r>
            <a:r>
              <a:rPr dirty="0"/>
              <a:t> </a:t>
            </a:r>
            <a:r>
              <a:rPr dirty="0" err="1"/>
              <a:t>vết</a:t>
            </a:r>
            <a:r>
              <a:rPr dirty="0"/>
              <a:t> </a:t>
            </a:r>
            <a:r>
              <a:rPr dirty="0" err="1"/>
              <a:t>thông</a:t>
            </a:r>
            <a:r>
              <a:rPr dirty="0"/>
              <a:t> qua claim ID D*/C* </a:t>
            </a:r>
            <a:r>
              <a:rPr dirty="0" err="1"/>
              <a:t>và</a:t>
            </a:r>
            <a:r>
              <a:rPr dirty="0"/>
              <a:t> </a:t>
            </a:r>
            <a:r>
              <a:rPr dirty="0" err="1"/>
              <a:t>lịch</a:t>
            </a:r>
            <a:r>
              <a:rPr dirty="0"/>
              <a:t> </a:t>
            </a:r>
            <a:r>
              <a:rPr dirty="0" err="1"/>
              <a:t>sử</a:t>
            </a:r>
            <a:r>
              <a:rPr dirty="0"/>
              <a:t> </a:t>
            </a:r>
            <a:r>
              <a:rPr dirty="0" err="1"/>
              <a:t>tranh</a:t>
            </a:r>
            <a:r>
              <a:rPr dirty="0"/>
              <a:t> </a:t>
            </a:r>
            <a:r>
              <a:rPr dirty="0" err="1"/>
              <a:t>luận</a:t>
            </a:r>
            <a:r>
              <a:rPr dirty="0"/>
              <a:t> </a:t>
            </a:r>
            <a:r>
              <a:rPr dirty="0" err="1"/>
              <a:t>nhiều</a:t>
            </a:r>
            <a:r>
              <a:rPr dirty="0"/>
              <a:t> </a:t>
            </a:r>
            <a:r>
              <a:rPr dirty="0" err="1"/>
              <a:t>vòng</a:t>
            </a:r>
            <a:r>
              <a:rPr dirty="0"/>
              <a:t>.</a:t>
            </a:r>
          </a:p>
          <a:p>
            <a:pPr>
              <a:spcAft>
                <a:spcPts val="800"/>
              </a:spcAft>
              <a:defRPr sz="2000">
                <a:solidFill>
                  <a:srgbClr val="191919"/>
                </a:solidFill>
                <a:latin typeface="Arial"/>
              </a:defRPr>
            </a:pPr>
            <a:r>
              <a:rPr dirty="0" err="1"/>
              <a:t>Đánh</a:t>
            </a:r>
            <a:r>
              <a:rPr dirty="0"/>
              <a:t> </a:t>
            </a:r>
            <a:r>
              <a:rPr dirty="0" err="1"/>
              <a:t>giá</a:t>
            </a:r>
            <a:r>
              <a:rPr dirty="0"/>
              <a:t> </a:t>
            </a:r>
            <a:r>
              <a:rPr dirty="0" err="1"/>
              <a:t>thực</a:t>
            </a:r>
            <a:r>
              <a:rPr dirty="0"/>
              <a:t> </a:t>
            </a:r>
            <a:r>
              <a:rPr dirty="0" err="1"/>
              <a:t>nghiệm</a:t>
            </a:r>
            <a:r>
              <a:rPr dirty="0"/>
              <a:t> Base LLM so </a:t>
            </a:r>
            <a:r>
              <a:rPr dirty="0" err="1"/>
              <a:t>với</a:t>
            </a:r>
            <a:r>
              <a:rPr dirty="0"/>
              <a:t> MAD </a:t>
            </a:r>
            <a:r>
              <a:rPr dirty="0" err="1"/>
              <a:t>trên</a:t>
            </a:r>
            <a:r>
              <a:rPr dirty="0"/>
              <a:t> FEVER binary SUPPORTS/REFUTES.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Ý tưởng Multi-Agent Debate</a:t>
            </a:r>
          </a:p>
        </p:txBody>
      </p:sp>
      <p:sp>
        <p:nvSpPr>
          <p:cNvPr id="3" name="TextBox 2"/>
          <p:cNvSpPr txBox="1"/>
          <p:nvPr/>
        </p:nvSpPr>
        <p:spPr>
          <a:xfrm>
            <a:off x="530352" y="804672"/>
            <a:ext cx="10607040" cy="320040"/>
          </a:xfrm>
          <a:prstGeom prst="rect">
            <a:avLst/>
          </a:prstGeom>
          <a:noFill/>
        </p:spPr>
        <p:txBody>
          <a:bodyPr wrap="none">
            <a:spAutoFit/>
          </a:bodyPr>
          <a:lstStyle/>
          <a:p>
            <a:r>
              <a:rPr sz="1200">
                <a:solidFill>
                  <a:srgbClr val="5A5F69"/>
                </a:solidFill>
                <a:latin typeface="Arial"/>
              </a:rPr>
              <a:t>Mô hình phiên tòa số cho kiểm chứng thông tin</a:t>
            </a:r>
          </a:p>
        </p:txBody>
      </p:sp>
      <p:sp>
        <p:nvSpPr>
          <p:cNvPr id="4" name="Rectangle 3"/>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5/15</a:t>
            </a:r>
          </a:p>
        </p:txBody>
      </p:sp>
      <p:pic>
        <p:nvPicPr>
          <p:cNvPr id="6" name="Picture 5" descr="mad_debate_court.png"/>
          <p:cNvPicPr>
            <a:picLocks noChangeAspect="1"/>
          </p:cNvPicPr>
          <p:nvPr/>
        </p:nvPicPr>
        <p:blipFill>
          <a:blip r:embed="rId3"/>
          <a:stretch>
            <a:fillRect/>
          </a:stretch>
        </p:blipFill>
        <p:spPr>
          <a:xfrm>
            <a:off x="640080" y="1325880"/>
            <a:ext cx="5577840" cy="3027970"/>
          </a:xfrm>
          <a:prstGeom prst="rect">
            <a:avLst/>
          </a:prstGeom>
        </p:spPr>
      </p:pic>
      <p:sp>
        <p:nvSpPr>
          <p:cNvPr id="7" name="TextBox 6"/>
          <p:cNvSpPr txBox="1"/>
          <p:nvPr/>
        </p:nvSpPr>
        <p:spPr>
          <a:xfrm>
            <a:off x="6537960" y="1508760"/>
            <a:ext cx="4983480" cy="4206240"/>
          </a:xfrm>
          <a:prstGeom prst="rect">
            <a:avLst/>
          </a:prstGeom>
          <a:noFill/>
        </p:spPr>
        <p:txBody>
          <a:bodyPr wrap="square" lIns="45720" rIns="45720">
            <a:spAutoFit/>
          </a:bodyPr>
          <a:lstStyle/>
          <a:p>
            <a:pPr>
              <a:spcAft>
                <a:spcPts val="800"/>
              </a:spcAft>
              <a:defRPr sz="2000">
                <a:solidFill>
                  <a:srgbClr val="191919"/>
                </a:solidFill>
                <a:latin typeface="Arial"/>
              </a:defRPr>
            </a:pPr>
            <a:r>
              <a:t>Defender bảo vệ khả năng bản tin đúng.</a:t>
            </a:r>
          </a:p>
          <a:p>
            <a:pPr>
              <a:spcAft>
                <a:spcPts val="800"/>
              </a:spcAft>
              <a:defRPr sz="2000">
                <a:solidFill>
                  <a:srgbClr val="191919"/>
                </a:solidFill>
                <a:latin typeface="Arial"/>
              </a:defRPr>
            </a:pPr>
            <a:r>
              <a:t>Challenger tìm điểm sai, thiếu căn cứ hoặc đánh tráo khái niệm.</a:t>
            </a:r>
          </a:p>
          <a:p>
            <a:pPr>
              <a:spcAft>
                <a:spcPts val="800"/>
              </a:spcAft>
              <a:defRPr sz="2000">
                <a:solidFill>
                  <a:srgbClr val="191919"/>
                </a:solidFill>
                <a:latin typeface="Arial"/>
              </a:defRPr>
            </a:pPr>
            <a:r>
              <a:t>Source Scorer đánh giá độ tin cậy của nguồn.</a:t>
            </a:r>
          </a:p>
          <a:p>
            <a:pPr>
              <a:spcAft>
                <a:spcPts val="800"/>
              </a:spcAft>
              <a:defRPr sz="2000">
                <a:solidFill>
                  <a:srgbClr val="191919"/>
                </a:solidFill>
                <a:latin typeface="Arial"/>
              </a:defRPr>
            </a:pPr>
            <a:r>
              <a:t>Judge tổng hợp bằng chứng và lịch sử tranh luận để đưa ra truth_score.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Tổng quan kiến trúc hệ thống</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6/15</a:t>
            </a:r>
          </a:p>
        </p:txBody>
      </p:sp>
      <p:pic>
        <p:nvPicPr>
          <p:cNvPr id="5" name="Picture 4" descr="mad_system_overview.png"/>
          <p:cNvPicPr>
            <a:picLocks noChangeAspect="1"/>
          </p:cNvPicPr>
          <p:nvPr/>
        </p:nvPicPr>
        <p:blipFill>
          <a:blip r:embed="rId3"/>
          <a:stretch>
            <a:fillRect/>
          </a:stretch>
        </p:blipFill>
        <p:spPr>
          <a:xfrm>
            <a:off x="502920" y="1234440"/>
            <a:ext cx="7925972" cy="475558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Các thành phần chính</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7/15</a:t>
            </a:r>
          </a:p>
        </p:txBody>
      </p:sp>
      <p:sp>
        <p:nvSpPr>
          <p:cNvPr id="5" name="Rounded Rectangle 4"/>
          <p:cNvSpPr/>
          <p:nvPr/>
        </p:nvSpPr>
        <p:spPr>
          <a:xfrm>
            <a:off x="640080" y="1417320"/>
            <a:ext cx="3429000" cy="14173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417320"/>
            <a:ext cx="73152" cy="1417320"/>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1527048"/>
            <a:ext cx="3154680" cy="320040"/>
          </a:xfrm>
          <a:prstGeom prst="rect">
            <a:avLst/>
          </a:prstGeom>
          <a:noFill/>
        </p:spPr>
        <p:txBody>
          <a:bodyPr wrap="none">
            <a:spAutoFit/>
          </a:bodyPr>
          <a:lstStyle/>
          <a:p>
            <a:r>
              <a:rPr sz="1500" b="1">
                <a:solidFill>
                  <a:srgbClr val="142D50"/>
                </a:solidFill>
                <a:latin typeface="Arial"/>
              </a:rPr>
              <a:t>Defender</a:t>
            </a:r>
          </a:p>
        </p:txBody>
      </p:sp>
      <p:sp>
        <p:nvSpPr>
          <p:cNvPr id="8" name="TextBox 7"/>
          <p:cNvSpPr txBox="1"/>
          <p:nvPr/>
        </p:nvSpPr>
        <p:spPr>
          <a:xfrm>
            <a:off x="804671" y="1892808"/>
            <a:ext cx="3108960" cy="850392"/>
          </a:xfrm>
          <a:prstGeom prst="rect">
            <a:avLst/>
          </a:prstGeom>
          <a:noFill/>
        </p:spPr>
        <p:txBody>
          <a:bodyPr wrap="square">
            <a:spAutoFit/>
          </a:bodyPr>
          <a:lstStyle/>
          <a:p>
            <a:r>
              <a:rPr sz="1250">
                <a:solidFill>
                  <a:srgbClr val="191919"/>
                </a:solidFill>
                <a:latin typeface="Arial"/>
              </a:rPr>
              <a:t>Tạo D1, D2... để bảo vệ bản tin dựa trên evidence.</a:t>
            </a:r>
          </a:p>
        </p:txBody>
      </p:sp>
      <p:sp>
        <p:nvSpPr>
          <p:cNvPr id="9" name="Rounded Rectangle 8"/>
          <p:cNvSpPr/>
          <p:nvPr/>
        </p:nvSpPr>
        <p:spPr>
          <a:xfrm>
            <a:off x="4462272" y="1417320"/>
            <a:ext cx="3429000" cy="14173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62272" y="1417320"/>
            <a:ext cx="73152" cy="1417320"/>
          </a:xfrm>
          <a:prstGeom prst="rect">
            <a:avLst/>
          </a:prstGeom>
          <a:solidFill>
            <a:srgbClr val="23785F"/>
          </a:solidFill>
          <a:ln>
            <a:solidFill>
              <a:srgbClr val="237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26864" y="1527048"/>
            <a:ext cx="3154680" cy="320040"/>
          </a:xfrm>
          <a:prstGeom prst="rect">
            <a:avLst/>
          </a:prstGeom>
          <a:noFill/>
        </p:spPr>
        <p:txBody>
          <a:bodyPr wrap="none">
            <a:spAutoFit/>
          </a:bodyPr>
          <a:lstStyle/>
          <a:p>
            <a:r>
              <a:rPr sz="1500" b="1">
                <a:solidFill>
                  <a:srgbClr val="142D50"/>
                </a:solidFill>
                <a:latin typeface="Arial"/>
              </a:rPr>
              <a:t>Challenger</a:t>
            </a:r>
          </a:p>
        </p:txBody>
      </p:sp>
      <p:sp>
        <p:nvSpPr>
          <p:cNvPr id="12" name="TextBox 11"/>
          <p:cNvSpPr txBox="1"/>
          <p:nvPr/>
        </p:nvSpPr>
        <p:spPr>
          <a:xfrm>
            <a:off x="4626864" y="1892808"/>
            <a:ext cx="3108960" cy="850392"/>
          </a:xfrm>
          <a:prstGeom prst="rect">
            <a:avLst/>
          </a:prstGeom>
          <a:noFill/>
        </p:spPr>
        <p:txBody>
          <a:bodyPr wrap="square">
            <a:spAutoFit/>
          </a:bodyPr>
          <a:lstStyle/>
          <a:p>
            <a:r>
              <a:rPr sz="1250">
                <a:solidFill>
                  <a:srgbClr val="191919"/>
                </a:solidFill>
                <a:latin typeface="Arial"/>
              </a:rPr>
              <a:t>Tạo C1, C2... để phản biện lỗi thực thể, thời gian, logic.</a:t>
            </a:r>
          </a:p>
        </p:txBody>
      </p:sp>
      <p:sp>
        <p:nvSpPr>
          <p:cNvPr id="13" name="Rounded Rectangle 12"/>
          <p:cNvSpPr/>
          <p:nvPr/>
        </p:nvSpPr>
        <p:spPr>
          <a:xfrm>
            <a:off x="8284463" y="1417320"/>
            <a:ext cx="3429000" cy="14173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84463" y="1417320"/>
            <a:ext cx="73152" cy="1417320"/>
          </a:xfrm>
          <a:prstGeom prst="rect">
            <a:avLst/>
          </a:prstGeom>
          <a:solidFill>
            <a:srgbClr val="DC8232"/>
          </a:solidFill>
          <a:ln>
            <a:solidFill>
              <a:srgbClr val="DC8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49055" y="1527048"/>
            <a:ext cx="3154680" cy="320040"/>
          </a:xfrm>
          <a:prstGeom prst="rect">
            <a:avLst/>
          </a:prstGeom>
          <a:noFill/>
        </p:spPr>
        <p:txBody>
          <a:bodyPr wrap="none">
            <a:spAutoFit/>
          </a:bodyPr>
          <a:lstStyle/>
          <a:p>
            <a:r>
              <a:rPr sz="1500" b="1">
                <a:solidFill>
                  <a:srgbClr val="142D50"/>
                </a:solidFill>
                <a:latin typeface="Arial"/>
              </a:rPr>
              <a:t>Search Module</a:t>
            </a:r>
          </a:p>
        </p:txBody>
      </p:sp>
      <p:sp>
        <p:nvSpPr>
          <p:cNvPr id="16" name="TextBox 15"/>
          <p:cNvSpPr txBox="1"/>
          <p:nvPr/>
        </p:nvSpPr>
        <p:spPr>
          <a:xfrm>
            <a:off x="8449055" y="1892808"/>
            <a:ext cx="3108960" cy="850392"/>
          </a:xfrm>
          <a:prstGeom prst="rect">
            <a:avLst/>
          </a:prstGeom>
          <a:noFill/>
        </p:spPr>
        <p:txBody>
          <a:bodyPr wrap="square">
            <a:spAutoFit/>
          </a:bodyPr>
          <a:lstStyle/>
          <a:p>
            <a:r>
              <a:rPr sz="1250">
                <a:solidFill>
                  <a:srgbClr val="191919"/>
                </a:solidFill>
                <a:latin typeface="Arial"/>
              </a:rPr>
              <a:t>Lập kế hoạch truy vấn theo từng phía, Tavily trước, Wikipedia fallback.</a:t>
            </a:r>
          </a:p>
        </p:txBody>
      </p:sp>
      <p:sp>
        <p:nvSpPr>
          <p:cNvPr id="17" name="Rounded Rectangle 16"/>
          <p:cNvSpPr/>
          <p:nvPr/>
        </p:nvSpPr>
        <p:spPr>
          <a:xfrm>
            <a:off x="640080" y="3291839"/>
            <a:ext cx="3429000" cy="14173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291839"/>
            <a:ext cx="73152" cy="1417320"/>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1" y="3401568"/>
            <a:ext cx="3154680" cy="320040"/>
          </a:xfrm>
          <a:prstGeom prst="rect">
            <a:avLst/>
          </a:prstGeom>
          <a:noFill/>
        </p:spPr>
        <p:txBody>
          <a:bodyPr wrap="none">
            <a:spAutoFit/>
          </a:bodyPr>
          <a:lstStyle/>
          <a:p>
            <a:r>
              <a:rPr sz="1500" b="1">
                <a:solidFill>
                  <a:srgbClr val="142D50"/>
                </a:solidFill>
                <a:latin typeface="Arial"/>
              </a:rPr>
              <a:t>Source Scorer</a:t>
            </a:r>
          </a:p>
        </p:txBody>
      </p:sp>
      <p:sp>
        <p:nvSpPr>
          <p:cNvPr id="20" name="TextBox 19"/>
          <p:cNvSpPr txBox="1"/>
          <p:nvPr/>
        </p:nvSpPr>
        <p:spPr>
          <a:xfrm>
            <a:off x="804671" y="3767327"/>
            <a:ext cx="3108960" cy="850392"/>
          </a:xfrm>
          <a:prstGeom prst="rect">
            <a:avLst/>
          </a:prstGeom>
          <a:noFill/>
        </p:spPr>
        <p:txBody>
          <a:bodyPr wrap="square">
            <a:spAutoFit/>
          </a:bodyPr>
          <a:lstStyle/>
          <a:p>
            <a:r>
              <a:rPr sz="1250">
                <a:solidFill>
                  <a:srgbClr val="191919"/>
                </a:solidFill>
                <a:latin typeface="Arial"/>
              </a:rPr>
              <a:t>Chấm trust_score cho nguồn để Judge cân nhắc.</a:t>
            </a:r>
          </a:p>
        </p:txBody>
      </p:sp>
      <p:sp>
        <p:nvSpPr>
          <p:cNvPr id="21" name="Rounded Rectangle 20"/>
          <p:cNvSpPr/>
          <p:nvPr/>
        </p:nvSpPr>
        <p:spPr>
          <a:xfrm>
            <a:off x="4462272" y="3291839"/>
            <a:ext cx="3429000" cy="14173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62272" y="3291839"/>
            <a:ext cx="73152" cy="1417320"/>
          </a:xfrm>
          <a:prstGeom prst="rect">
            <a:avLst/>
          </a:prstGeom>
          <a:solidFill>
            <a:srgbClr val="23785F"/>
          </a:solidFill>
          <a:ln>
            <a:solidFill>
              <a:srgbClr val="237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26864" y="3401568"/>
            <a:ext cx="3154680" cy="320040"/>
          </a:xfrm>
          <a:prstGeom prst="rect">
            <a:avLst/>
          </a:prstGeom>
          <a:noFill/>
        </p:spPr>
        <p:txBody>
          <a:bodyPr wrap="none">
            <a:spAutoFit/>
          </a:bodyPr>
          <a:lstStyle/>
          <a:p>
            <a:r>
              <a:rPr sz="1500" b="1">
                <a:solidFill>
                  <a:srgbClr val="142D50"/>
                </a:solidFill>
                <a:latin typeface="Arial"/>
              </a:rPr>
              <a:t>Claims Registry</a:t>
            </a:r>
          </a:p>
        </p:txBody>
      </p:sp>
      <p:sp>
        <p:nvSpPr>
          <p:cNvPr id="24" name="TextBox 23"/>
          <p:cNvSpPr txBox="1"/>
          <p:nvPr/>
        </p:nvSpPr>
        <p:spPr>
          <a:xfrm>
            <a:off x="4626864" y="3767327"/>
            <a:ext cx="3108960" cy="850392"/>
          </a:xfrm>
          <a:prstGeom prst="rect">
            <a:avLst/>
          </a:prstGeom>
          <a:noFill/>
        </p:spPr>
        <p:txBody>
          <a:bodyPr wrap="square">
            <a:spAutoFit/>
          </a:bodyPr>
          <a:lstStyle/>
          <a:p>
            <a:r>
              <a:rPr sz="1250">
                <a:solidFill>
                  <a:srgbClr val="191919"/>
                </a:solidFill>
                <a:latin typeface="Arial"/>
              </a:rPr>
              <a:t>Lưu lịch sử ASSERT, REBUT, DEFEND theo từng claim.</a:t>
            </a:r>
          </a:p>
        </p:txBody>
      </p:sp>
      <p:sp>
        <p:nvSpPr>
          <p:cNvPr id="25" name="Rounded Rectangle 24"/>
          <p:cNvSpPr/>
          <p:nvPr/>
        </p:nvSpPr>
        <p:spPr>
          <a:xfrm>
            <a:off x="8284463" y="3291839"/>
            <a:ext cx="3429000" cy="14173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84463" y="3291839"/>
            <a:ext cx="73152" cy="1417320"/>
          </a:xfrm>
          <a:prstGeom prst="rect">
            <a:avLst/>
          </a:prstGeom>
          <a:solidFill>
            <a:srgbClr val="DC8232"/>
          </a:solidFill>
          <a:ln>
            <a:solidFill>
              <a:srgbClr val="DC8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49055" y="3401568"/>
            <a:ext cx="3154680" cy="320040"/>
          </a:xfrm>
          <a:prstGeom prst="rect">
            <a:avLst/>
          </a:prstGeom>
          <a:noFill/>
        </p:spPr>
        <p:txBody>
          <a:bodyPr wrap="none">
            <a:spAutoFit/>
          </a:bodyPr>
          <a:lstStyle/>
          <a:p>
            <a:r>
              <a:rPr sz="1500" b="1">
                <a:solidFill>
                  <a:srgbClr val="142D50"/>
                </a:solidFill>
                <a:latin typeface="Arial"/>
              </a:rPr>
              <a:t>Judge</a:t>
            </a:r>
          </a:p>
        </p:txBody>
      </p:sp>
      <p:sp>
        <p:nvSpPr>
          <p:cNvPr id="28" name="TextBox 27"/>
          <p:cNvSpPr txBox="1"/>
          <p:nvPr/>
        </p:nvSpPr>
        <p:spPr>
          <a:xfrm>
            <a:off x="8449055" y="3767327"/>
            <a:ext cx="3108960" cy="850392"/>
          </a:xfrm>
          <a:prstGeom prst="rect">
            <a:avLst/>
          </a:prstGeom>
          <a:noFill/>
        </p:spPr>
        <p:txBody>
          <a:bodyPr wrap="square">
            <a:spAutoFit/>
          </a:bodyPr>
          <a:lstStyle/>
          <a:p>
            <a:r>
              <a:rPr sz="1250">
                <a:solidFill>
                  <a:srgbClr val="191919"/>
                </a:solidFill>
                <a:latin typeface="Arial"/>
              </a:rPr>
              <a:t>Tổng hợp evidence, source_scores và debate_history thành verdict.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MADState và Claims Registry</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8/15</a:t>
            </a:r>
          </a:p>
        </p:txBody>
      </p:sp>
      <p:pic>
        <p:nvPicPr>
          <p:cNvPr id="5" name="Picture 4" descr="mad_state_claims_registry.png"/>
          <p:cNvPicPr>
            <a:picLocks noChangeAspect="1"/>
          </p:cNvPicPr>
          <p:nvPr/>
        </p:nvPicPr>
        <p:blipFill>
          <a:blip r:embed="rId3"/>
          <a:stretch>
            <a:fillRect/>
          </a:stretch>
        </p:blipFill>
        <p:spPr>
          <a:xfrm>
            <a:off x="594360" y="1261872"/>
            <a:ext cx="6492240" cy="3722218"/>
          </a:xfrm>
          <a:prstGeom prst="rect">
            <a:avLst/>
          </a:prstGeom>
        </p:spPr>
      </p:pic>
      <p:sp>
        <p:nvSpPr>
          <p:cNvPr id="6" name="TextBox 5"/>
          <p:cNvSpPr txBox="1"/>
          <p:nvPr/>
        </p:nvSpPr>
        <p:spPr>
          <a:xfrm>
            <a:off x="7360920" y="1508760"/>
            <a:ext cx="4160520" cy="4389120"/>
          </a:xfrm>
          <a:prstGeom prst="rect">
            <a:avLst/>
          </a:prstGeom>
          <a:noFill/>
        </p:spPr>
        <p:txBody>
          <a:bodyPr wrap="square" lIns="45720" rIns="45720">
            <a:spAutoFit/>
          </a:bodyPr>
          <a:lstStyle/>
          <a:p>
            <a:pPr>
              <a:spcAft>
                <a:spcPts val="800"/>
              </a:spcAft>
              <a:defRPr sz="1800">
                <a:solidFill>
                  <a:srgbClr val="191919"/>
                </a:solidFill>
                <a:latin typeface="Arial"/>
              </a:defRPr>
            </a:pPr>
            <a:r>
              <a:t>MADState là bộ nhớ làm việc chung của toàn bộ workflow.</a:t>
            </a:r>
          </a:p>
          <a:p>
            <a:pPr>
              <a:spcAft>
                <a:spcPts val="800"/>
              </a:spcAft>
              <a:defRPr sz="1800">
                <a:solidFill>
                  <a:srgbClr val="191919"/>
                </a:solidFill>
                <a:latin typeface="Arial"/>
              </a:defRPr>
            </a:pPr>
            <a:r>
              <a:t>knowledge_base và source_scores lưu bằng chứng và độ tin cậy nguồn.</a:t>
            </a:r>
          </a:p>
          <a:p>
            <a:pPr>
              <a:spcAft>
                <a:spcPts val="800"/>
              </a:spcAft>
              <a:defRPr sz="1800">
                <a:solidFill>
                  <a:srgbClr val="191919"/>
                </a:solidFill>
                <a:latin typeface="Arial"/>
              </a:defRPr>
            </a:pPr>
            <a:r>
              <a:t>debate_history lưu toàn bộ diễn biến qua các vòng.</a:t>
            </a:r>
          </a:p>
          <a:p>
            <a:pPr>
              <a:spcAft>
                <a:spcPts val="800"/>
              </a:spcAft>
              <a:defRPr sz="1800">
                <a:solidFill>
                  <a:srgbClr val="191919"/>
                </a:solidFill>
                <a:latin typeface="Arial"/>
              </a:defRPr>
            </a:pPr>
            <a:r>
              <a:t>claims_registry giữ lịch sử D*/C*, giúp REBUT/DEFEND nhắm đúng claim.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Luồng xử lý Search Mode</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9/15</a:t>
            </a:r>
          </a:p>
        </p:txBody>
      </p:sp>
      <p:pic>
        <p:nvPicPr>
          <p:cNvPr id="5" name="Picture 4" descr="search_workflow.png"/>
          <p:cNvPicPr>
            <a:picLocks noChangeAspect="1"/>
          </p:cNvPicPr>
          <p:nvPr/>
        </p:nvPicPr>
        <p:blipFill>
          <a:blip r:embed="rId3"/>
          <a:stretch>
            <a:fillRect/>
          </a:stretch>
        </p:blipFill>
        <p:spPr>
          <a:xfrm>
            <a:off x="762000" y="1433842"/>
            <a:ext cx="8378118" cy="47126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Luồng xử lý Non-search Mode</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10/15</a:t>
            </a:r>
          </a:p>
        </p:txBody>
      </p:sp>
      <p:pic>
        <p:nvPicPr>
          <p:cNvPr id="5" name="Picture 4" descr="non_search_workflow.png"/>
          <p:cNvPicPr>
            <a:picLocks noChangeAspect="1"/>
          </p:cNvPicPr>
          <p:nvPr/>
        </p:nvPicPr>
        <p:blipFill>
          <a:blip r:embed="rId3"/>
          <a:stretch>
            <a:fillRect/>
          </a:stretch>
        </p:blipFill>
        <p:spPr>
          <a:xfrm>
            <a:off x="731520" y="1261872"/>
            <a:ext cx="6400800" cy="3474720"/>
          </a:xfrm>
          <a:prstGeom prst="rect">
            <a:avLst/>
          </a:prstGeom>
        </p:spPr>
      </p:pic>
      <p:sp>
        <p:nvSpPr>
          <p:cNvPr id="6" name="TextBox 5"/>
          <p:cNvSpPr txBox="1"/>
          <p:nvPr/>
        </p:nvSpPr>
        <p:spPr>
          <a:xfrm>
            <a:off x="7452360" y="1572768"/>
            <a:ext cx="3977639" cy="4069080"/>
          </a:xfrm>
          <a:prstGeom prst="rect">
            <a:avLst/>
          </a:prstGeom>
          <a:noFill/>
        </p:spPr>
        <p:txBody>
          <a:bodyPr wrap="square" lIns="45720" rIns="45720">
            <a:spAutoFit/>
          </a:bodyPr>
          <a:lstStyle/>
          <a:p>
            <a:pPr>
              <a:spcAft>
                <a:spcPts val="800"/>
              </a:spcAft>
              <a:defRPr sz="1800">
                <a:solidFill>
                  <a:srgbClr val="191919"/>
                </a:solidFill>
                <a:latin typeface="Arial"/>
              </a:defRPr>
            </a:pPr>
            <a:r>
              <a:t>Dùng khi context/evidence đã có sẵn, ví dụ FEVER.</a:t>
            </a:r>
          </a:p>
          <a:p>
            <a:pPr>
              <a:spcAft>
                <a:spcPts val="800"/>
              </a:spcAft>
              <a:defRPr sz="1800">
                <a:solidFill>
                  <a:srgbClr val="191919"/>
                </a:solidFill>
                <a:latin typeface="Arial"/>
              </a:defRPr>
            </a:pPr>
            <a:r>
              <a:t>initial_context được nạp thành nguồn [S1] với trust score 1.0.</a:t>
            </a:r>
          </a:p>
          <a:p>
            <a:pPr>
              <a:spcAft>
                <a:spcPts val="800"/>
              </a:spcAft>
              <a:defRPr sz="1800">
                <a:solidFill>
                  <a:srgbClr val="191919"/>
                </a:solidFill>
                <a:latin typeface="Arial"/>
              </a:defRPr>
            </a:pPr>
            <a:r>
              <a:t>Không gọi Tavily/Wikipedia, giúp đánh giá ổn định và kiểm soát input.</a:t>
            </a:r>
          </a:p>
          <a:p>
            <a:pPr>
              <a:spcAft>
                <a:spcPts val="800"/>
              </a:spcAft>
              <a:defRPr sz="1800">
                <a:solidFill>
                  <a:srgbClr val="191919"/>
                </a:solidFill>
                <a:latin typeface="Arial"/>
              </a:defRPr>
            </a:pPr>
            <a:r>
              <a:t>Vẫn giữ cấu trúc Defender - Challenger - Save Round - Judge.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Cài đặt và công nghệ sử dụng</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11/15</a:t>
            </a:r>
          </a:p>
        </p:txBody>
      </p:sp>
      <p:sp>
        <p:nvSpPr>
          <p:cNvPr id="5" name="Rounded Rectangle 4"/>
          <p:cNvSpPr/>
          <p:nvPr/>
        </p:nvSpPr>
        <p:spPr>
          <a:xfrm>
            <a:off x="822960" y="1298448"/>
            <a:ext cx="5074920" cy="100584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298448"/>
            <a:ext cx="73152" cy="1005840"/>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7552" y="1408176"/>
            <a:ext cx="4800600" cy="320040"/>
          </a:xfrm>
          <a:prstGeom prst="rect">
            <a:avLst/>
          </a:prstGeom>
          <a:noFill/>
        </p:spPr>
        <p:txBody>
          <a:bodyPr wrap="none">
            <a:spAutoFit/>
          </a:bodyPr>
          <a:lstStyle/>
          <a:p>
            <a:r>
              <a:rPr sz="1500" b="1">
                <a:solidFill>
                  <a:srgbClr val="142D50"/>
                </a:solidFill>
                <a:latin typeface="Arial"/>
              </a:rPr>
              <a:t>Python</a:t>
            </a:r>
          </a:p>
        </p:txBody>
      </p:sp>
      <p:sp>
        <p:nvSpPr>
          <p:cNvPr id="8" name="TextBox 7"/>
          <p:cNvSpPr txBox="1"/>
          <p:nvPr/>
        </p:nvSpPr>
        <p:spPr>
          <a:xfrm>
            <a:off x="987552" y="1773936"/>
            <a:ext cx="4754880" cy="438912"/>
          </a:xfrm>
          <a:prstGeom prst="rect">
            <a:avLst/>
          </a:prstGeom>
          <a:noFill/>
        </p:spPr>
        <p:txBody>
          <a:bodyPr wrap="square">
            <a:spAutoFit/>
          </a:bodyPr>
          <a:lstStyle/>
          <a:p>
            <a:r>
              <a:rPr sz="1250">
                <a:solidFill>
                  <a:srgbClr val="191919"/>
                </a:solidFill>
                <a:latin typeface="Arial"/>
              </a:rPr>
              <a:t>Ngôn ngữ triển khai chính.</a:t>
            </a:r>
          </a:p>
        </p:txBody>
      </p:sp>
      <p:sp>
        <p:nvSpPr>
          <p:cNvPr id="9" name="Rounded Rectangle 8"/>
          <p:cNvSpPr/>
          <p:nvPr/>
        </p:nvSpPr>
        <p:spPr>
          <a:xfrm>
            <a:off x="6355080" y="1298448"/>
            <a:ext cx="5074920" cy="100584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55080" y="1298448"/>
            <a:ext cx="73152" cy="1005840"/>
          </a:xfrm>
          <a:prstGeom prst="rect">
            <a:avLst/>
          </a:prstGeom>
          <a:solidFill>
            <a:srgbClr val="23785F"/>
          </a:solidFill>
          <a:ln>
            <a:solidFill>
              <a:srgbClr val="237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9672" y="1408176"/>
            <a:ext cx="4800600" cy="320040"/>
          </a:xfrm>
          <a:prstGeom prst="rect">
            <a:avLst/>
          </a:prstGeom>
          <a:noFill/>
        </p:spPr>
        <p:txBody>
          <a:bodyPr wrap="none">
            <a:spAutoFit/>
          </a:bodyPr>
          <a:lstStyle/>
          <a:p>
            <a:r>
              <a:rPr sz="1500" b="1">
                <a:solidFill>
                  <a:srgbClr val="142D50"/>
                </a:solidFill>
                <a:latin typeface="Arial"/>
              </a:rPr>
              <a:t>LangGraph</a:t>
            </a:r>
          </a:p>
        </p:txBody>
      </p:sp>
      <p:sp>
        <p:nvSpPr>
          <p:cNvPr id="12" name="TextBox 11"/>
          <p:cNvSpPr txBox="1"/>
          <p:nvPr/>
        </p:nvSpPr>
        <p:spPr>
          <a:xfrm>
            <a:off x="6519672" y="1773936"/>
            <a:ext cx="4754880" cy="438912"/>
          </a:xfrm>
          <a:prstGeom prst="rect">
            <a:avLst/>
          </a:prstGeom>
          <a:noFill/>
        </p:spPr>
        <p:txBody>
          <a:bodyPr wrap="square">
            <a:spAutoFit/>
          </a:bodyPr>
          <a:lstStyle/>
          <a:p>
            <a:r>
              <a:rPr sz="1250">
                <a:solidFill>
                  <a:srgbClr val="191919"/>
                </a:solidFill>
                <a:latin typeface="Arial"/>
              </a:rPr>
              <a:t>Điều phối workflow dạng StateGraph có vòng lặp.</a:t>
            </a:r>
          </a:p>
        </p:txBody>
      </p:sp>
      <p:sp>
        <p:nvSpPr>
          <p:cNvPr id="13" name="Rounded Rectangle 12"/>
          <p:cNvSpPr/>
          <p:nvPr/>
        </p:nvSpPr>
        <p:spPr>
          <a:xfrm>
            <a:off x="822960" y="2715768"/>
            <a:ext cx="5074920" cy="100584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 y="2715768"/>
            <a:ext cx="73152" cy="1005840"/>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87552" y="2825496"/>
            <a:ext cx="4800600" cy="320040"/>
          </a:xfrm>
          <a:prstGeom prst="rect">
            <a:avLst/>
          </a:prstGeom>
          <a:noFill/>
        </p:spPr>
        <p:txBody>
          <a:bodyPr wrap="none">
            <a:spAutoFit/>
          </a:bodyPr>
          <a:lstStyle/>
          <a:p>
            <a:r>
              <a:rPr sz="1500" b="1">
                <a:solidFill>
                  <a:srgbClr val="142D50"/>
                </a:solidFill>
                <a:latin typeface="Arial"/>
              </a:rPr>
              <a:t>LangChain ChatOpenAI</a:t>
            </a:r>
          </a:p>
        </p:txBody>
      </p:sp>
      <p:sp>
        <p:nvSpPr>
          <p:cNvPr id="16" name="TextBox 15"/>
          <p:cNvSpPr txBox="1"/>
          <p:nvPr/>
        </p:nvSpPr>
        <p:spPr>
          <a:xfrm>
            <a:off x="987552" y="3191256"/>
            <a:ext cx="4754880" cy="438912"/>
          </a:xfrm>
          <a:prstGeom prst="rect">
            <a:avLst/>
          </a:prstGeom>
          <a:noFill/>
        </p:spPr>
        <p:txBody>
          <a:bodyPr wrap="square">
            <a:spAutoFit/>
          </a:bodyPr>
          <a:lstStyle/>
          <a:p>
            <a:r>
              <a:rPr sz="1250">
                <a:solidFill>
                  <a:srgbClr val="191919"/>
                </a:solidFill>
                <a:latin typeface="Arial"/>
              </a:rPr>
              <a:t>Kết nối LLM qua API tương thích OpenAI.</a:t>
            </a:r>
          </a:p>
        </p:txBody>
      </p:sp>
      <p:sp>
        <p:nvSpPr>
          <p:cNvPr id="17" name="Rounded Rectangle 16"/>
          <p:cNvSpPr/>
          <p:nvPr/>
        </p:nvSpPr>
        <p:spPr>
          <a:xfrm>
            <a:off x="6355080" y="2715768"/>
            <a:ext cx="5074920" cy="100584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55080" y="2715768"/>
            <a:ext cx="73152" cy="1005840"/>
          </a:xfrm>
          <a:prstGeom prst="rect">
            <a:avLst/>
          </a:prstGeom>
          <a:solidFill>
            <a:srgbClr val="23785F"/>
          </a:solidFill>
          <a:ln>
            <a:solidFill>
              <a:srgbClr val="237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9672" y="2825496"/>
            <a:ext cx="4800600" cy="320040"/>
          </a:xfrm>
          <a:prstGeom prst="rect">
            <a:avLst/>
          </a:prstGeom>
          <a:noFill/>
        </p:spPr>
        <p:txBody>
          <a:bodyPr wrap="none">
            <a:spAutoFit/>
          </a:bodyPr>
          <a:lstStyle/>
          <a:p>
            <a:r>
              <a:rPr sz="1500" b="1">
                <a:solidFill>
                  <a:srgbClr val="142D50"/>
                </a:solidFill>
                <a:latin typeface="Arial"/>
              </a:rPr>
              <a:t>NineRouter</a:t>
            </a:r>
          </a:p>
        </p:txBody>
      </p:sp>
      <p:sp>
        <p:nvSpPr>
          <p:cNvPr id="20" name="TextBox 19"/>
          <p:cNvSpPr txBox="1"/>
          <p:nvPr/>
        </p:nvSpPr>
        <p:spPr>
          <a:xfrm>
            <a:off x="6519672" y="3191256"/>
            <a:ext cx="4754880" cy="438912"/>
          </a:xfrm>
          <a:prstGeom prst="rect">
            <a:avLst/>
          </a:prstGeom>
          <a:noFill/>
        </p:spPr>
        <p:txBody>
          <a:bodyPr wrap="square">
            <a:spAutoFit/>
          </a:bodyPr>
          <a:lstStyle/>
          <a:p>
            <a:r>
              <a:rPr sz="1250">
                <a:solidFill>
                  <a:srgbClr val="191919"/>
                </a:solidFill>
                <a:latin typeface="Arial"/>
              </a:rPr>
              <a:t>Provider/model cấu hình qua biến môi trường.</a:t>
            </a:r>
          </a:p>
        </p:txBody>
      </p:sp>
      <p:sp>
        <p:nvSpPr>
          <p:cNvPr id="21" name="Rounded Rectangle 20"/>
          <p:cNvSpPr/>
          <p:nvPr/>
        </p:nvSpPr>
        <p:spPr>
          <a:xfrm>
            <a:off x="822960" y="4133087"/>
            <a:ext cx="5074920" cy="100584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2960" y="4133087"/>
            <a:ext cx="73152" cy="1005840"/>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7552" y="4242816"/>
            <a:ext cx="4800600" cy="320040"/>
          </a:xfrm>
          <a:prstGeom prst="rect">
            <a:avLst/>
          </a:prstGeom>
          <a:noFill/>
        </p:spPr>
        <p:txBody>
          <a:bodyPr wrap="none">
            <a:spAutoFit/>
          </a:bodyPr>
          <a:lstStyle/>
          <a:p>
            <a:r>
              <a:rPr sz="1500" b="1">
                <a:solidFill>
                  <a:srgbClr val="142D50"/>
                </a:solidFill>
                <a:latin typeface="Arial"/>
              </a:rPr>
              <a:t>Tavily &amp; Wikipedia</a:t>
            </a:r>
          </a:p>
        </p:txBody>
      </p:sp>
      <p:sp>
        <p:nvSpPr>
          <p:cNvPr id="24" name="TextBox 23"/>
          <p:cNvSpPr txBox="1"/>
          <p:nvPr/>
        </p:nvSpPr>
        <p:spPr>
          <a:xfrm>
            <a:off x="987552" y="4608575"/>
            <a:ext cx="4754880" cy="438912"/>
          </a:xfrm>
          <a:prstGeom prst="rect">
            <a:avLst/>
          </a:prstGeom>
          <a:noFill/>
        </p:spPr>
        <p:txBody>
          <a:bodyPr wrap="square">
            <a:spAutoFit/>
          </a:bodyPr>
          <a:lstStyle/>
          <a:p>
            <a:r>
              <a:rPr sz="1250">
                <a:solidFill>
                  <a:srgbClr val="191919"/>
                </a:solidFill>
                <a:latin typeface="Arial"/>
              </a:rPr>
              <a:t>Truy xuất bằng chứng trong Search Mode.</a:t>
            </a:r>
          </a:p>
        </p:txBody>
      </p:sp>
      <p:sp>
        <p:nvSpPr>
          <p:cNvPr id="25" name="Rounded Rectangle 24"/>
          <p:cNvSpPr/>
          <p:nvPr/>
        </p:nvSpPr>
        <p:spPr>
          <a:xfrm>
            <a:off x="6355080" y="4133087"/>
            <a:ext cx="5074920" cy="100584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355080" y="4133087"/>
            <a:ext cx="73152" cy="1005840"/>
          </a:xfrm>
          <a:prstGeom prst="rect">
            <a:avLst/>
          </a:prstGeom>
          <a:solidFill>
            <a:srgbClr val="23785F"/>
          </a:solidFill>
          <a:ln>
            <a:solidFill>
              <a:srgbClr val="237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19672" y="4242816"/>
            <a:ext cx="4800600" cy="320040"/>
          </a:xfrm>
          <a:prstGeom prst="rect">
            <a:avLst/>
          </a:prstGeom>
          <a:noFill/>
        </p:spPr>
        <p:txBody>
          <a:bodyPr wrap="none">
            <a:spAutoFit/>
          </a:bodyPr>
          <a:lstStyle/>
          <a:p>
            <a:r>
              <a:rPr sz="1500" b="1">
                <a:solidFill>
                  <a:srgbClr val="142D50"/>
                </a:solidFill>
                <a:latin typeface="Arial"/>
              </a:rPr>
              <a:t>FEVER</a:t>
            </a:r>
          </a:p>
        </p:txBody>
      </p:sp>
      <p:sp>
        <p:nvSpPr>
          <p:cNvPr id="28" name="TextBox 27"/>
          <p:cNvSpPr txBox="1"/>
          <p:nvPr/>
        </p:nvSpPr>
        <p:spPr>
          <a:xfrm>
            <a:off x="6519672" y="4608575"/>
            <a:ext cx="4754880" cy="438912"/>
          </a:xfrm>
          <a:prstGeom prst="rect">
            <a:avLst/>
          </a:prstGeom>
          <a:noFill/>
        </p:spPr>
        <p:txBody>
          <a:bodyPr wrap="square">
            <a:spAutoFit/>
          </a:bodyPr>
          <a:lstStyle/>
          <a:p>
            <a:r>
              <a:rPr sz="1250">
                <a:solidFill>
                  <a:srgbClr val="191919"/>
                </a:solidFill>
                <a:latin typeface="Arial"/>
              </a:rPr>
              <a:t>Benchmark SUPPORTS/REFUTES cho đánh giá thực nghiệm.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Quy trình thực nghiệm FEVER</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12/15</a:t>
            </a:r>
          </a:p>
        </p:txBody>
      </p:sp>
      <p:pic>
        <p:nvPicPr>
          <p:cNvPr id="5" name="Picture 4" descr="fever_evaluation_pipeline.png"/>
          <p:cNvPicPr>
            <a:picLocks noChangeAspect="1"/>
          </p:cNvPicPr>
          <p:nvPr/>
        </p:nvPicPr>
        <p:blipFill>
          <a:blip r:embed="rId3"/>
          <a:stretch>
            <a:fillRect/>
          </a:stretch>
        </p:blipFill>
        <p:spPr>
          <a:xfrm>
            <a:off x="548640" y="1234440"/>
            <a:ext cx="10972800" cy="53802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Kết quả thực nghiệm</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13/15</a:t>
            </a:r>
          </a:p>
        </p:txBody>
      </p:sp>
      <p:pic>
        <p:nvPicPr>
          <p:cNvPr id="5" name="Picture 4" descr="fever_accuracy_comparison.png"/>
          <p:cNvPicPr>
            <a:picLocks noChangeAspect="1"/>
          </p:cNvPicPr>
          <p:nvPr/>
        </p:nvPicPr>
        <p:blipFill>
          <a:blip r:embed="rId3"/>
          <a:stretch>
            <a:fillRect/>
          </a:stretch>
        </p:blipFill>
        <p:spPr>
          <a:xfrm>
            <a:off x="594360" y="1234440"/>
            <a:ext cx="6400800" cy="3749040"/>
          </a:xfrm>
          <a:prstGeom prst="rect">
            <a:avLst/>
          </a:prstGeom>
        </p:spPr>
      </p:pic>
      <p:sp>
        <p:nvSpPr>
          <p:cNvPr id="6" name="TextBox 5"/>
          <p:cNvSpPr txBox="1"/>
          <p:nvPr/>
        </p:nvSpPr>
        <p:spPr>
          <a:xfrm>
            <a:off x="7315200" y="1371600"/>
            <a:ext cx="4297680" cy="4572000"/>
          </a:xfrm>
          <a:prstGeom prst="rect">
            <a:avLst/>
          </a:prstGeom>
          <a:noFill/>
        </p:spPr>
        <p:txBody>
          <a:bodyPr wrap="square" lIns="45720" rIns="45720">
            <a:spAutoFit/>
          </a:bodyPr>
          <a:lstStyle/>
          <a:p>
            <a:pPr>
              <a:spcAft>
                <a:spcPts val="800"/>
              </a:spcAft>
              <a:defRPr sz="1700">
                <a:solidFill>
                  <a:srgbClr val="191919"/>
                </a:solidFill>
                <a:latin typeface="Arial"/>
              </a:defRPr>
            </a:pPr>
            <a:r>
              <a:t>Llama 3.3 70B: 92.5% -&gt; 97.5% (+5.0%).</a:t>
            </a:r>
          </a:p>
          <a:p>
            <a:pPr>
              <a:spcAft>
                <a:spcPts val="800"/>
              </a:spcAft>
              <a:defRPr sz="1700">
                <a:solidFill>
                  <a:srgbClr val="191919"/>
                </a:solidFill>
                <a:latin typeface="Arial"/>
              </a:defRPr>
            </a:pPr>
            <a:r>
              <a:t>Gemma 4-31B: 82.5% -&gt; 90.0% (+7.5%).</a:t>
            </a:r>
          </a:p>
          <a:p>
            <a:pPr>
              <a:spcAft>
                <a:spcPts val="800"/>
              </a:spcAft>
              <a:defRPr sz="1700">
                <a:solidFill>
                  <a:srgbClr val="191919"/>
                </a:solidFill>
                <a:latin typeface="Arial"/>
              </a:defRPr>
            </a:pPr>
            <a:r>
              <a:t>GPT-OSS 120B: 85.0% -&gt; 92.5% (+7.5%).</a:t>
            </a:r>
          </a:p>
          <a:p>
            <a:pPr>
              <a:spcAft>
                <a:spcPts val="800"/>
              </a:spcAft>
              <a:defRPr sz="1700">
                <a:solidFill>
                  <a:srgbClr val="191919"/>
                </a:solidFill>
                <a:latin typeface="Arial"/>
              </a:defRPr>
            </a:pPr>
            <a:r>
              <a:t>Gemini 3.1 Flash Lite: 80.0% -&gt; 85.0% (+5.0%).</a:t>
            </a:r>
          </a:p>
          <a:p>
            <a:pPr>
              <a:spcAft>
                <a:spcPts val="800"/>
              </a:spcAft>
              <a:defRPr sz="1700">
                <a:solidFill>
                  <a:srgbClr val="191919"/>
                </a:solidFill>
                <a:latin typeface="Arial"/>
              </a:defRPr>
            </a:pPr>
            <a:r>
              <a:t>MAD cải thiện ổn định trên các model trong thiết lập thử nghiệm FEVER.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Phân tích, hạn chế và hướng phát triển</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14/15</a:t>
            </a:r>
          </a:p>
        </p:txBody>
      </p:sp>
      <p:sp>
        <p:nvSpPr>
          <p:cNvPr id="5" name="Rounded Rectangle 4"/>
          <p:cNvSpPr/>
          <p:nvPr/>
        </p:nvSpPr>
        <p:spPr>
          <a:xfrm>
            <a:off x="731520" y="1325880"/>
            <a:ext cx="3474720" cy="43434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325880"/>
            <a:ext cx="73152" cy="4343400"/>
          </a:xfrm>
          <a:prstGeom prst="rect">
            <a:avLst/>
          </a:prstGeom>
          <a:solidFill>
            <a:srgbClr val="23785F"/>
          </a:solidFill>
          <a:ln>
            <a:solidFill>
              <a:srgbClr val="2378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1435607"/>
            <a:ext cx="3200400" cy="320040"/>
          </a:xfrm>
          <a:prstGeom prst="rect">
            <a:avLst/>
          </a:prstGeom>
          <a:noFill/>
        </p:spPr>
        <p:txBody>
          <a:bodyPr wrap="none">
            <a:spAutoFit/>
          </a:bodyPr>
          <a:lstStyle/>
          <a:p>
            <a:r>
              <a:rPr sz="1500" b="1">
                <a:solidFill>
                  <a:srgbClr val="142D50"/>
                </a:solidFill>
                <a:latin typeface="Arial"/>
              </a:rPr>
              <a:t>Nhận xét</a:t>
            </a:r>
          </a:p>
        </p:txBody>
      </p:sp>
      <p:sp>
        <p:nvSpPr>
          <p:cNvPr id="8" name="TextBox 7"/>
          <p:cNvSpPr txBox="1"/>
          <p:nvPr/>
        </p:nvSpPr>
        <p:spPr>
          <a:xfrm>
            <a:off x="896112" y="1801368"/>
            <a:ext cx="3154679" cy="3776472"/>
          </a:xfrm>
          <a:prstGeom prst="rect">
            <a:avLst/>
          </a:prstGeom>
          <a:noFill/>
        </p:spPr>
        <p:txBody>
          <a:bodyPr wrap="square">
            <a:spAutoFit/>
          </a:bodyPr>
          <a:lstStyle/>
          <a:p>
            <a:r>
              <a:rPr sz="1250">
                <a:solidFill>
                  <a:srgbClr val="191919"/>
                </a:solidFill>
                <a:latin typeface="Arial"/>
              </a:rPr>
              <a:t>MAD thận trọng hơn hỏi LLM trực tiếp, giảm xu hướng kết luận thiếu căn cứ và giúp giải thích quyết định qua evidence + debate history.</a:t>
            </a:r>
          </a:p>
        </p:txBody>
      </p:sp>
      <p:sp>
        <p:nvSpPr>
          <p:cNvPr id="9" name="Rounded Rectangle 8"/>
          <p:cNvSpPr/>
          <p:nvPr/>
        </p:nvSpPr>
        <p:spPr>
          <a:xfrm>
            <a:off x="4434840" y="1325880"/>
            <a:ext cx="3474720" cy="43434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1325880"/>
            <a:ext cx="73152" cy="4343400"/>
          </a:xfrm>
          <a:prstGeom prst="rect">
            <a:avLst/>
          </a:prstGeom>
          <a:solidFill>
            <a:srgbClr val="DC8232"/>
          </a:solidFill>
          <a:ln>
            <a:solidFill>
              <a:srgbClr val="DC8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9431" y="1435607"/>
            <a:ext cx="3200400" cy="320040"/>
          </a:xfrm>
          <a:prstGeom prst="rect">
            <a:avLst/>
          </a:prstGeom>
          <a:noFill/>
        </p:spPr>
        <p:txBody>
          <a:bodyPr wrap="none">
            <a:spAutoFit/>
          </a:bodyPr>
          <a:lstStyle/>
          <a:p>
            <a:r>
              <a:rPr sz="1500" b="1">
                <a:solidFill>
                  <a:srgbClr val="142D50"/>
                </a:solidFill>
                <a:latin typeface="Arial"/>
              </a:rPr>
              <a:t>Hạn chế</a:t>
            </a:r>
          </a:p>
        </p:txBody>
      </p:sp>
      <p:sp>
        <p:nvSpPr>
          <p:cNvPr id="12" name="TextBox 11"/>
          <p:cNvSpPr txBox="1"/>
          <p:nvPr/>
        </p:nvSpPr>
        <p:spPr>
          <a:xfrm>
            <a:off x="4599431" y="1801368"/>
            <a:ext cx="3154679" cy="3776472"/>
          </a:xfrm>
          <a:prstGeom prst="rect">
            <a:avLst/>
          </a:prstGeom>
          <a:noFill/>
        </p:spPr>
        <p:txBody>
          <a:bodyPr wrap="square">
            <a:spAutoFit/>
          </a:bodyPr>
          <a:lstStyle/>
          <a:p>
            <a:r>
              <a:rPr sz="1250">
                <a:solidFill>
                  <a:srgbClr val="191919"/>
                </a:solidFill>
                <a:latin typeface="Arial"/>
              </a:rPr>
              <a:t>Chi phí thời gian/token cao hơn; phụ thuộc chất lượng LLM và nguồn; structured output vẫn có thể lỗi với model nhỏ.</a:t>
            </a:r>
          </a:p>
        </p:txBody>
      </p:sp>
      <p:sp>
        <p:nvSpPr>
          <p:cNvPr id="13" name="Rounded Rectangle 12"/>
          <p:cNvSpPr/>
          <p:nvPr/>
        </p:nvSpPr>
        <p:spPr>
          <a:xfrm>
            <a:off x="8138160" y="1325880"/>
            <a:ext cx="3474720" cy="43434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325880"/>
            <a:ext cx="73152" cy="4343400"/>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1435607"/>
            <a:ext cx="3200400" cy="320040"/>
          </a:xfrm>
          <a:prstGeom prst="rect">
            <a:avLst/>
          </a:prstGeom>
          <a:noFill/>
        </p:spPr>
        <p:txBody>
          <a:bodyPr wrap="none">
            <a:spAutoFit/>
          </a:bodyPr>
          <a:lstStyle/>
          <a:p>
            <a:r>
              <a:rPr sz="1500" b="1">
                <a:solidFill>
                  <a:srgbClr val="142D50"/>
                </a:solidFill>
                <a:latin typeface="Arial"/>
              </a:rPr>
              <a:t>Phát triển</a:t>
            </a:r>
          </a:p>
        </p:txBody>
      </p:sp>
      <p:sp>
        <p:nvSpPr>
          <p:cNvPr id="16" name="TextBox 15"/>
          <p:cNvSpPr txBox="1"/>
          <p:nvPr/>
        </p:nvSpPr>
        <p:spPr>
          <a:xfrm>
            <a:off x="8302752" y="1801368"/>
            <a:ext cx="3154679" cy="3776472"/>
          </a:xfrm>
          <a:prstGeom prst="rect">
            <a:avLst/>
          </a:prstGeom>
          <a:noFill/>
        </p:spPr>
        <p:txBody>
          <a:bodyPr wrap="square">
            <a:spAutoFit/>
          </a:bodyPr>
          <a:lstStyle/>
          <a:p>
            <a:r>
              <a:rPr sz="1250">
                <a:solidFill>
                  <a:srgbClr val="191919"/>
                </a:solidFill>
                <a:latin typeface="Arial"/>
              </a:rPr>
              <a:t>Đồng bộ UI, dùng schema/tool calling, mở rộng GossipCop/TruthfulQA, model routing, multilingual và multimodal verification.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r>
              <a:rPr sz="2700" b="1">
                <a:solidFill>
                  <a:srgbClr val="142D50"/>
                </a:solidFill>
                <a:latin typeface="Arial"/>
              </a:rPr>
              <a:t>Kết luận</a:t>
            </a:r>
          </a:p>
        </p:txBody>
      </p:sp>
      <p:sp>
        <p:nvSpPr>
          <p:cNvPr id="3" name="Rectangle 2"/>
          <p:cNvSpPr/>
          <p:nvPr/>
        </p:nvSpPr>
        <p:spPr>
          <a:xfrm>
            <a:off x="502920" y="1078992"/>
            <a:ext cx="11155680" cy="27432"/>
          </a:xfrm>
          <a:prstGeom prst="rect">
            <a:avLst/>
          </a:prstGeom>
          <a:solidFill>
            <a:srgbClr val="235C96"/>
          </a:solidFill>
          <a:ln>
            <a:solidFill>
              <a:srgbClr val="235C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27080" y="6473952"/>
            <a:ext cx="822960" cy="228600"/>
          </a:xfrm>
          <a:prstGeom prst="rect">
            <a:avLst/>
          </a:prstGeom>
          <a:noFill/>
        </p:spPr>
        <p:txBody>
          <a:bodyPr wrap="none">
            <a:spAutoFit/>
          </a:bodyPr>
          <a:lstStyle/>
          <a:p>
            <a:pPr algn="r"/>
            <a:r>
              <a:rPr sz="900">
                <a:solidFill>
                  <a:srgbClr val="5A5F69"/>
                </a:solidFill>
                <a:latin typeface="Arial"/>
              </a:rPr>
              <a:t>15/15</a:t>
            </a:r>
          </a:p>
        </p:txBody>
      </p:sp>
      <p:sp>
        <p:nvSpPr>
          <p:cNvPr id="5" name="TextBox 4"/>
          <p:cNvSpPr txBox="1"/>
          <p:nvPr/>
        </p:nvSpPr>
        <p:spPr>
          <a:xfrm>
            <a:off x="1097280" y="1417320"/>
            <a:ext cx="9966960" cy="3200400"/>
          </a:xfrm>
          <a:prstGeom prst="rect">
            <a:avLst/>
          </a:prstGeom>
          <a:noFill/>
        </p:spPr>
        <p:txBody>
          <a:bodyPr wrap="square" lIns="45720" rIns="45720">
            <a:spAutoFit/>
          </a:bodyPr>
          <a:lstStyle/>
          <a:p>
            <a:pPr>
              <a:spcAft>
                <a:spcPts val="800"/>
              </a:spcAft>
              <a:defRPr sz="2200">
                <a:solidFill>
                  <a:srgbClr val="191919"/>
                </a:solidFill>
                <a:latin typeface="Arial"/>
              </a:defRPr>
            </a:pPr>
            <a:r>
              <a:t>Đồ án đã xây dựng hệ thống phát hiện tin giả dựa trên tranh biện đa tác tử.</a:t>
            </a:r>
          </a:p>
          <a:p>
            <a:pPr>
              <a:spcAft>
                <a:spcPts val="800"/>
              </a:spcAft>
              <a:defRPr sz="2200">
                <a:solidFill>
                  <a:srgbClr val="191919"/>
                </a:solidFill>
                <a:latin typeface="Arial"/>
              </a:defRPr>
            </a:pPr>
            <a:r>
              <a:t>Hệ thống kết hợp truy xuất bằng chứng, chấm điểm nguồn, quản lý nhận định và phán quyết cuối cùng.</a:t>
            </a:r>
          </a:p>
          <a:p>
            <a:pPr>
              <a:spcAft>
                <a:spcPts val="800"/>
              </a:spcAft>
              <a:defRPr sz="2200">
                <a:solidFill>
                  <a:srgbClr val="191919"/>
                </a:solidFill>
                <a:latin typeface="Arial"/>
              </a:defRPr>
            </a:pPr>
            <a:r>
              <a:t>Thực nghiệm FEVER cho thấy MAD cải thiện accuracy so với Base LLM trong các lần chạy đã ghi nhận.</a:t>
            </a:r>
          </a:p>
          <a:p>
            <a:pPr>
              <a:spcAft>
                <a:spcPts val="800"/>
              </a:spcAft>
              <a:defRPr sz="2200">
                <a:solidFill>
                  <a:srgbClr val="191919"/>
                </a:solidFill>
                <a:latin typeface="Arial"/>
              </a:defRPr>
            </a:pPr>
            <a:r>
              <a:t>Giá trị chính của hệ thống nằm ở khả năng giải thích, truy vết và kiểm tra chéo lập luận.</a:t>
            </a:r>
          </a:p>
        </p:txBody>
      </p:sp>
      <p:sp>
        <p:nvSpPr>
          <p:cNvPr id="6" name="TextBox 5"/>
          <p:cNvSpPr txBox="1"/>
          <p:nvPr/>
        </p:nvSpPr>
        <p:spPr>
          <a:xfrm>
            <a:off x="3840480" y="5257800"/>
            <a:ext cx="4480560" cy="640080"/>
          </a:xfrm>
          <a:prstGeom prst="rect">
            <a:avLst/>
          </a:prstGeom>
          <a:noFill/>
        </p:spPr>
        <p:txBody>
          <a:bodyPr wrap="none">
            <a:spAutoFit/>
          </a:bodyPr>
          <a:lstStyle/>
          <a:p>
            <a:pPr algn="ctr"/>
            <a:r>
              <a:rPr sz="3600" b="1">
                <a:solidFill>
                  <a:srgbClr val="235C96"/>
                </a:solidFill>
                <a:latin typeface="Arial"/>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1539</Words>
  <Application>Microsoft Office PowerPoint</Application>
  <PresentationFormat>Widescreen</PresentationFormat>
  <Paragraphs>126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Kiên Trần</cp:lastModifiedBy>
  <cp:revision>3</cp:revision>
  <dcterms:created xsi:type="dcterms:W3CDTF">2013-01-27T09:14:16Z</dcterms:created>
  <dcterms:modified xsi:type="dcterms:W3CDTF">2026-05-23T19:35:56Z</dcterms:modified>
  <cp:category/>
</cp:coreProperties>
</file>